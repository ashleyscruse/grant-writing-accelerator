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817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58368"/>
            <a:ext cx="9144000" cy="640080"/>
          </a:xfrm>
          <a:prstGeom prst="rect">
            <a:avLst/>
          </a:prstGeom>
          <a:noFill/>
        </p:spPr>
        <p:txBody>
          <a:bodyPr wrap="square">
            <a:spAutoFit/>
          </a:bodyPr>
          <a:lstStyle/>
          <a:p>
            <a:pPr algn="l">
              <a:lnSpc>
                <a:spcPct val="110000"/>
              </a:lnSpc>
            </a:pPr>
            <a:r>
              <a:rPr sz="3200" b="1">
                <a:solidFill>
                  <a:srgbClr val="9E3E58"/>
                </a:solidFill>
                <a:latin typeface="Caveat"/>
              </a:rPr>
              <a:t>grant writing accelerator, ai workshop</a:t>
            </a:r>
          </a:p>
        </p:txBody>
      </p:sp>
      <p:sp>
        <p:nvSpPr>
          <p:cNvPr id="4" name="TextBox 3"/>
          <p:cNvSpPr txBox="1"/>
          <p:nvPr/>
        </p:nvSpPr>
        <p:spPr>
          <a:xfrm>
            <a:off x="822960" y="1737360"/>
            <a:ext cx="10881360" cy="2468880"/>
          </a:xfrm>
          <a:prstGeom prst="rect">
            <a:avLst/>
          </a:prstGeom>
          <a:noFill/>
        </p:spPr>
        <p:txBody>
          <a:bodyPr wrap="square">
            <a:spAutoFit/>
          </a:bodyPr>
          <a:lstStyle/>
          <a:p>
            <a:pPr algn="l">
              <a:lnSpc>
                <a:spcPct val="100000"/>
              </a:lnSpc>
            </a:pPr>
            <a:r>
              <a:rPr sz="6200" b="1" spc="-200">
                <a:solidFill>
                  <a:srgbClr val="E5E6E0"/>
                </a:solidFill>
                <a:latin typeface="Space Grotesk"/>
              </a:rPr>
              <a:t>IT IS NOT THE AI.</a:t>
            </a:r>
          </a:p>
          <a:p>
            <a:pPr algn="l">
              <a:lnSpc>
                <a:spcPct val="100000"/>
              </a:lnSpc>
            </a:pPr>
            <a:r>
              <a:rPr sz="6200" b="1" spc="-200">
                <a:solidFill>
                  <a:srgbClr val="E5E6E0"/>
                </a:solidFill>
                <a:latin typeface="Space Grotesk"/>
              </a:rPr>
              <a:t>IT IS THE CONTEXT.</a:t>
            </a:r>
          </a:p>
        </p:txBody>
      </p:sp>
      <p:sp>
        <p:nvSpPr>
          <p:cNvPr id="5" name="TextBox 4"/>
          <p:cNvSpPr txBox="1"/>
          <p:nvPr/>
        </p:nvSpPr>
        <p:spPr>
          <a:xfrm>
            <a:off x="822960" y="4526280"/>
            <a:ext cx="10058400" cy="731520"/>
          </a:xfrm>
          <a:prstGeom prst="rect">
            <a:avLst/>
          </a:prstGeom>
          <a:noFill/>
        </p:spPr>
        <p:txBody>
          <a:bodyPr wrap="square">
            <a:spAutoFit/>
          </a:bodyPr>
          <a:lstStyle/>
          <a:p>
            <a:pPr algn="l">
              <a:lnSpc>
                <a:spcPct val="110000"/>
              </a:lnSpc>
            </a:pPr>
            <a:r>
              <a:rPr sz="3000" b="1">
                <a:solidFill>
                  <a:srgbClr val="B30022"/>
                </a:solidFill>
                <a:latin typeface="Caveat"/>
              </a:rPr>
              <a:t>a short conversation before we build.</a:t>
            </a:r>
          </a:p>
        </p:txBody>
      </p:sp>
      <p:sp>
        <p:nvSpPr>
          <p:cNvPr id="6" name="TextBox 5"/>
          <p:cNvSpPr txBox="1"/>
          <p:nvPr/>
        </p:nvSpPr>
        <p:spPr>
          <a:xfrm>
            <a:off x="822960" y="6217920"/>
            <a:ext cx="5486400" cy="365760"/>
          </a:xfrm>
          <a:prstGeom prst="rect">
            <a:avLst/>
          </a:prstGeom>
          <a:noFill/>
        </p:spPr>
        <p:txBody>
          <a:bodyPr wrap="square">
            <a:spAutoFit/>
          </a:bodyPr>
          <a:lstStyle/>
          <a:p>
            <a:pPr algn="l">
              <a:lnSpc>
                <a:spcPct val="110000"/>
              </a:lnSpc>
            </a:pPr>
            <a:r>
              <a:rPr sz="1200" b="1" spc="150">
                <a:solidFill>
                  <a:srgbClr val="B9BAB4"/>
                </a:solidFill>
                <a:latin typeface="Space Grotesk"/>
              </a:rPr>
              <a:t>ashleyscruse.com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5E6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58368"/>
            <a:ext cx="9144000" cy="640080"/>
          </a:xfrm>
          <a:prstGeom prst="rect">
            <a:avLst/>
          </a:prstGeom>
          <a:noFill/>
        </p:spPr>
        <p:txBody>
          <a:bodyPr wrap="square">
            <a:spAutoFit/>
          </a:bodyPr>
          <a:lstStyle/>
          <a:p>
            <a:pPr algn="l">
              <a:lnSpc>
                <a:spcPct val="110000"/>
              </a:lnSpc>
            </a:pPr>
            <a:r>
              <a:rPr sz="3200" b="1">
                <a:solidFill>
                  <a:srgbClr val="9E3E58"/>
                </a:solidFill>
                <a:latin typeface="Caveat"/>
              </a:rPr>
              <a:t>the problem</a:t>
            </a:r>
          </a:p>
        </p:txBody>
      </p:sp>
      <p:sp>
        <p:nvSpPr>
          <p:cNvPr id="4" name="TextBox 3"/>
          <p:cNvSpPr txBox="1"/>
          <p:nvPr/>
        </p:nvSpPr>
        <p:spPr>
          <a:xfrm>
            <a:off x="822960" y="1234440"/>
            <a:ext cx="10607040" cy="1280160"/>
          </a:xfrm>
          <a:prstGeom prst="rect">
            <a:avLst/>
          </a:prstGeom>
          <a:noFill/>
        </p:spPr>
        <p:txBody>
          <a:bodyPr wrap="square">
            <a:spAutoFit/>
          </a:bodyPr>
          <a:lstStyle/>
          <a:p>
            <a:pPr algn="l">
              <a:lnSpc>
                <a:spcPct val="103000"/>
              </a:lnSpc>
            </a:pPr>
            <a:r>
              <a:rPr sz="4200" b="1" spc="-150">
                <a:solidFill>
                  <a:srgbClr val="18171F"/>
                </a:solidFill>
                <a:latin typeface="Space Grotesk"/>
              </a:rPr>
              <a:t>Generic in, generic out</a:t>
            </a:r>
          </a:p>
        </p:txBody>
      </p:sp>
      <p:sp>
        <p:nvSpPr>
          <p:cNvPr id="5" name="TextBox 4"/>
          <p:cNvSpPr txBox="1"/>
          <p:nvPr/>
        </p:nvSpPr>
        <p:spPr>
          <a:xfrm>
            <a:off x="822960" y="2651760"/>
            <a:ext cx="10424160" cy="2743200"/>
          </a:xfrm>
          <a:prstGeom prst="rect">
            <a:avLst/>
          </a:prstGeom>
          <a:noFill/>
        </p:spPr>
        <p:txBody>
          <a:bodyPr wrap="square">
            <a:spAutoFit/>
          </a:bodyPr>
          <a:lstStyle/>
          <a:p>
            <a:pPr algn="l">
              <a:lnSpc>
                <a:spcPct val="130000"/>
              </a:lnSpc>
            </a:pPr>
            <a:r>
              <a:rPr sz="2700" b="0">
                <a:solidFill>
                  <a:srgbClr val="18171F"/>
                </a:solidFill>
                <a:latin typeface="Outfit"/>
              </a:rPr>
              <a:t>Most people paste a question into a chat box and get generic help, because the tool has no idea who they are. It guesses from the average of the internet, and you spend the next hour correcting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5E6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58368"/>
            <a:ext cx="9144000" cy="640080"/>
          </a:xfrm>
          <a:prstGeom prst="rect">
            <a:avLst/>
          </a:prstGeom>
          <a:noFill/>
        </p:spPr>
        <p:txBody>
          <a:bodyPr wrap="square">
            <a:spAutoFit/>
          </a:bodyPr>
          <a:lstStyle/>
          <a:p>
            <a:pPr algn="l">
              <a:lnSpc>
                <a:spcPct val="110000"/>
              </a:lnSpc>
            </a:pPr>
            <a:r>
              <a:rPr sz="3200" b="1">
                <a:solidFill>
                  <a:srgbClr val="9E3E58"/>
                </a:solidFill>
                <a:latin typeface="Caveat"/>
              </a:rPr>
              <a:t>the fix</a:t>
            </a:r>
          </a:p>
        </p:txBody>
      </p:sp>
      <p:sp>
        <p:nvSpPr>
          <p:cNvPr id="4" name="TextBox 3"/>
          <p:cNvSpPr txBox="1"/>
          <p:nvPr/>
        </p:nvSpPr>
        <p:spPr>
          <a:xfrm>
            <a:off x="822960" y="1234440"/>
            <a:ext cx="10607040" cy="1280160"/>
          </a:xfrm>
          <a:prstGeom prst="rect">
            <a:avLst/>
          </a:prstGeom>
          <a:noFill/>
        </p:spPr>
        <p:txBody>
          <a:bodyPr wrap="square">
            <a:spAutoFit/>
          </a:bodyPr>
          <a:lstStyle/>
          <a:p>
            <a:pPr algn="l">
              <a:lnSpc>
                <a:spcPct val="103000"/>
              </a:lnSpc>
            </a:pPr>
            <a:r>
              <a:rPr sz="4200" b="1" spc="-150">
                <a:solidFill>
                  <a:srgbClr val="18171F"/>
                </a:solidFill>
                <a:latin typeface="Space Grotesk"/>
              </a:rPr>
              <a:t>Give it your context, once</a:t>
            </a:r>
          </a:p>
        </p:txBody>
      </p:sp>
      <p:sp>
        <p:nvSpPr>
          <p:cNvPr id="5" name="TextBox 4"/>
          <p:cNvSpPr txBox="1"/>
          <p:nvPr/>
        </p:nvSpPr>
        <p:spPr>
          <a:xfrm>
            <a:off x="822960" y="2651760"/>
            <a:ext cx="10424160" cy="2743200"/>
          </a:xfrm>
          <a:prstGeom prst="rect">
            <a:avLst/>
          </a:prstGeom>
          <a:noFill/>
        </p:spPr>
        <p:txBody>
          <a:bodyPr wrap="square">
            <a:spAutoFit/>
          </a:bodyPr>
          <a:lstStyle/>
          <a:p>
            <a:pPr algn="l">
              <a:lnSpc>
                <a:spcPct val="130000"/>
              </a:lnSpc>
            </a:pPr>
            <a:r>
              <a:rPr sz="2700" b="0">
                <a:solidFill>
                  <a:srgbClr val="18171F"/>
                </a:solidFill>
                <a:latin typeface="Outfit"/>
              </a:rPr>
              <a:t>Set up who you are, your research, your record, your institution, one time. From then on every answer is grounded in you, not in a stranger's guess.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817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1371600"/>
            <a:ext cx="1371600" cy="82296"/>
          </a:xfrm>
          <a:prstGeom prst="rect">
            <a:avLst/>
          </a:prstGeom>
          <a:solidFill>
            <a:srgbClr val="B30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00200"/>
            <a:ext cx="10607040" cy="1280160"/>
          </a:xfrm>
          <a:prstGeom prst="rect">
            <a:avLst/>
          </a:prstGeom>
          <a:noFill/>
        </p:spPr>
        <p:txBody>
          <a:bodyPr wrap="square">
            <a:spAutoFit/>
          </a:bodyPr>
          <a:lstStyle/>
          <a:p>
            <a:pPr algn="l">
              <a:lnSpc>
                <a:spcPct val="103000"/>
              </a:lnSpc>
            </a:pPr>
            <a:r>
              <a:rPr sz="4400" b="1" spc="-150">
                <a:solidFill>
                  <a:srgbClr val="E5E6E0"/>
                </a:solidFill>
                <a:latin typeface="Space Grotesk"/>
              </a:rPr>
              <a:t>Grounded beats generic</a:t>
            </a:r>
          </a:p>
        </p:txBody>
      </p:sp>
      <p:sp>
        <p:nvSpPr>
          <p:cNvPr id="5" name="TextBox 4"/>
          <p:cNvSpPr txBox="1"/>
          <p:nvPr/>
        </p:nvSpPr>
        <p:spPr>
          <a:xfrm>
            <a:off x="822960" y="2834640"/>
            <a:ext cx="10607040" cy="3840480"/>
          </a:xfrm>
          <a:prstGeom prst="rect">
            <a:avLst/>
          </a:prstGeom>
          <a:noFill/>
        </p:spPr>
        <p:txBody>
          <a:bodyPr wrap="square">
            <a:spAutoFit/>
          </a:bodyPr>
          <a:lstStyle/>
          <a:p>
            <a:pPr>
              <a:lnSpc>
                <a:spcPct val="112000"/>
              </a:lnSpc>
              <a:spcAft>
                <a:spcPts val="1600"/>
              </a:spcAft>
            </a:pPr>
            <a:r>
              <a:rPr sz="2700" b="1" spc="-50">
                <a:solidFill>
                  <a:srgbClr val="B30022"/>
                </a:solidFill>
                <a:latin typeface="Space Grotesk"/>
              </a:rPr>
              <a:t>Better output.</a:t>
            </a:r>
            <a:r>
              <a:rPr sz="2700">
                <a:solidFill>
                  <a:srgbClr val="E5E6E0"/>
                </a:solidFill>
                <a:latin typeface="Outfit"/>
              </a:rPr>
              <a:t>  It uses your real record, not filler.</a:t>
            </a:r>
          </a:p>
          <a:p>
            <a:pPr>
              <a:lnSpc>
                <a:spcPct val="112000"/>
              </a:lnSpc>
              <a:spcAft>
                <a:spcPts val="1600"/>
              </a:spcAft>
            </a:pPr>
            <a:r>
              <a:rPr sz="2700" b="1" spc="-50">
                <a:solidFill>
                  <a:srgbClr val="B30022"/>
                </a:solidFill>
                <a:latin typeface="Space Grotesk"/>
              </a:rPr>
              <a:t>Less back and forth.</a:t>
            </a:r>
            <a:r>
              <a:rPr sz="2700">
                <a:solidFill>
                  <a:srgbClr val="E5E6E0"/>
                </a:solidFill>
                <a:latin typeface="Outfit"/>
              </a:rPr>
              <a:t>  Fewer corrections, fewer re-explanations.</a:t>
            </a:r>
          </a:p>
          <a:p>
            <a:pPr>
              <a:lnSpc>
                <a:spcPct val="112000"/>
              </a:lnSpc>
              <a:spcAft>
                <a:spcPts val="1600"/>
              </a:spcAft>
            </a:pPr>
            <a:r>
              <a:rPr sz="2700" b="1" spc="-50">
                <a:solidFill>
                  <a:srgbClr val="B30022"/>
                </a:solidFill>
                <a:latin typeface="Space Grotesk"/>
              </a:rPr>
              <a:t>Lower cost.</a:t>
            </a:r>
            <a:r>
              <a:rPr sz="2700">
                <a:solidFill>
                  <a:srgbClr val="E5E6E0"/>
                </a:solidFill>
                <a:latin typeface="Outfit"/>
              </a:rPr>
              <a:t>  Fewer wasted tokens means less money spent.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5E6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58368"/>
            <a:ext cx="9144000" cy="640080"/>
          </a:xfrm>
          <a:prstGeom prst="rect">
            <a:avLst/>
          </a:prstGeom>
          <a:noFill/>
        </p:spPr>
        <p:txBody>
          <a:bodyPr wrap="square">
            <a:spAutoFit/>
          </a:bodyPr>
          <a:lstStyle/>
          <a:p>
            <a:pPr algn="l">
              <a:lnSpc>
                <a:spcPct val="110000"/>
              </a:lnSpc>
            </a:pPr>
            <a:r>
              <a:rPr sz="3200" b="1">
                <a:solidFill>
                  <a:srgbClr val="9E3E58"/>
                </a:solidFill>
                <a:latin typeface="Caveat"/>
              </a:rPr>
              <a:t>same page</a:t>
            </a:r>
          </a:p>
        </p:txBody>
      </p:sp>
      <p:sp>
        <p:nvSpPr>
          <p:cNvPr id="4" name="TextBox 3"/>
          <p:cNvSpPr txBox="1"/>
          <p:nvPr/>
        </p:nvSpPr>
        <p:spPr>
          <a:xfrm>
            <a:off x="822960" y="1234440"/>
            <a:ext cx="10607040" cy="1280160"/>
          </a:xfrm>
          <a:prstGeom prst="rect">
            <a:avLst/>
          </a:prstGeom>
          <a:noFill/>
        </p:spPr>
        <p:txBody>
          <a:bodyPr wrap="square">
            <a:spAutoFit/>
          </a:bodyPr>
          <a:lstStyle/>
          <a:p>
            <a:pPr algn="l">
              <a:lnSpc>
                <a:spcPct val="103000"/>
              </a:lnSpc>
            </a:pPr>
            <a:r>
              <a:rPr sz="4000" b="1" spc="-150">
                <a:solidFill>
                  <a:srgbClr val="18171F"/>
                </a:solidFill>
                <a:latin typeface="Space Grotesk"/>
              </a:rPr>
              <a:t>The words we will use</a:t>
            </a:r>
          </a:p>
        </p:txBody>
      </p:sp>
      <p:sp>
        <p:nvSpPr>
          <p:cNvPr id="5" name="TextBox 4"/>
          <p:cNvSpPr txBox="1"/>
          <p:nvPr/>
        </p:nvSpPr>
        <p:spPr>
          <a:xfrm>
            <a:off x="822960" y="2651760"/>
            <a:ext cx="10607040" cy="3840480"/>
          </a:xfrm>
          <a:prstGeom prst="rect">
            <a:avLst/>
          </a:prstGeom>
          <a:noFill/>
        </p:spPr>
        <p:txBody>
          <a:bodyPr wrap="square">
            <a:spAutoFit/>
          </a:bodyPr>
          <a:lstStyle/>
          <a:p>
            <a:pPr>
              <a:lnSpc>
                <a:spcPct val="112000"/>
              </a:lnSpc>
              <a:spcAft>
                <a:spcPts val="1600"/>
              </a:spcAft>
            </a:pPr>
            <a:r>
              <a:rPr sz="2500" b="1" spc="-50">
                <a:solidFill>
                  <a:srgbClr val="B30022"/>
                </a:solidFill>
                <a:latin typeface="Space Grotesk"/>
              </a:rPr>
              <a:t>AI vs LLM.</a:t>
            </a:r>
            <a:r>
              <a:rPr sz="2500">
                <a:solidFill>
                  <a:srgbClr val="18171F"/>
                </a:solidFill>
                <a:latin typeface="Outfit"/>
              </a:rPr>
              <a:t>  AI is the field; an LLM is the text-trained model we use.</a:t>
            </a:r>
          </a:p>
          <a:p>
            <a:pPr>
              <a:lnSpc>
                <a:spcPct val="112000"/>
              </a:lnSpc>
              <a:spcAft>
                <a:spcPts val="1600"/>
              </a:spcAft>
            </a:pPr>
            <a:r>
              <a:rPr sz="2500" b="1" spc="-50">
                <a:solidFill>
                  <a:srgbClr val="B30022"/>
                </a:solidFill>
                <a:latin typeface="Space Grotesk"/>
              </a:rPr>
              <a:t>Chatbot vs agent.</a:t>
            </a:r>
            <a:r>
              <a:rPr sz="2500">
                <a:solidFill>
                  <a:srgbClr val="18171F"/>
                </a:solidFill>
                <a:latin typeface="Outfit"/>
              </a:rPr>
              <a:t>  A chatbot replies; an agent takes steps and uses tools.</a:t>
            </a:r>
          </a:p>
          <a:p>
            <a:pPr>
              <a:lnSpc>
                <a:spcPct val="112000"/>
              </a:lnSpc>
              <a:spcAft>
                <a:spcPts val="1600"/>
              </a:spcAft>
            </a:pPr>
            <a:r>
              <a:rPr sz="2500" b="1" spc="-50">
                <a:solidFill>
                  <a:srgbClr val="B30022"/>
                </a:solidFill>
                <a:latin typeface="Space Grotesk"/>
              </a:rPr>
              <a:t>Prompt, skill, workspace.</a:t>
            </a:r>
            <a:r>
              <a:rPr sz="2500">
                <a:solidFill>
                  <a:srgbClr val="18171F"/>
                </a:solidFill>
                <a:latin typeface="Outfit"/>
              </a:rPr>
              <a:t>  What you ask, a saved instruction, and your context plus skills in one place.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5E6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58368"/>
            <a:ext cx="9144000" cy="640080"/>
          </a:xfrm>
          <a:prstGeom prst="rect">
            <a:avLst/>
          </a:prstGeom>
          <a:noFill/>
        </p:spPr>
        <p:txBody>
          <a:bodyPr wrap="square">
            <a:spAutoFit/>
          </a:bodyPr>
          <a:lstStyle/>
          <a:p>
            <a:pPr algn="l">
              <a:lnSpc>
                <a:spcPct val="110000"/>
              </a:lnSpc>
            </a:pPr>
            <a:r>
              <a:rPr sz="3200" b="1">
                <a:solidFill>
                  <a:srgbClr val="9E3E58"/>
                </a:solidFill>
                <a:latin typeface="Caveat"/>
              </a:rPr>
              <a:t>same page</a:t>
            </a:r>
          </a:p>
        </p:txBody>
      </p:sp>
      <p:sp>
        <p:nvSpPr>
          <p:cNvPr id="4" name="TextBox 3"/>
          <p:cNvSpPr txBox="1"/>
          <p:nvPr/>
        </p:nvSpPr>
        <p:spPr>
          <a:xfrm>
            <a:off x="822960" y="1234440"/>
            <a:ext cx="10607040" cy="1280160"/>
          </a:xfrm>
          <a:prstGeom prst="rect">
            <a:avLst/>
          </a:prstGeom>
          <a:noFill/>
        </p:spPr>
        <p:txBody>
          <a:bodyPr wrap="square">
            <a:spAutoFit/>
          </a:bodyPr>
          <a:lstStyle/>
          <a:p>
            <a:pPr algn="l">
              <a:lnSpc>
                <a:spcPct val="103000"/>
              </a:lnSpc>
            </a:pPr>
            <a:r>
              <a:rPr sz="3800" b="1" spc="-150">
                <a:solidFill>
                  <a:srgbClr val="18171F"/>
                </a:solidFill>
                <a:latin typeface="Space Grotesk"/>
              </a:rPr>
              <a:t>Tokens and the context window</a:t>
            </a:r>
          </a:p>
        </p:txBody>
      </p:sp>
      <p:sp>
        <p:nvSpPr>
          <p:cNvPr id="5" name="TextBox 4"/>
          <p:cNvSpPr txBox="1"/>
          <p:nvPr/>
        </p:nvSpPr>
        <p:spPr>
          <a:xfrm>
            <a:off x="822960" y="2651760"/>
            <a:ext cx="10607040" cy="3840480"/>
          </a:xfrm>
          <a:prstGeom prst="rect">
            <a:avLst/>
          </a:prstGeom>
          <a:noFill/>
        </p:spPr>
        <p:txBody>
          <a:bodyPr wrap="square">
            <a:spAutoFit/>
          </a:bodyPr>
          <a:lstStyle/>
          <a:p>
            <a:pPr>
              <a:lnSpc>
                <a:spcPct val="112000"/>
              </a:lnSpc>
              <a:spcAft>
                <a:spcPts val="1600"/>
              </a:spcAft>
            </a:pPr>
            <a:r>
              <a:rPr sz="2500" b="1" spc="-50">
                <a:solidFill>
                  <a:srgbClr val="B30022"/>
                </a:solidFill>
                <a:latin typeface="Space Grotesk"/>
              </a:rPr>
              <a:t>Tokens.</a:t>
            </a:r>
            <a:r>
              <a:rPr sz="2500">
                <a:solidFill>
                  <a:srgbClr val="18171F"/>
                </a:solidFill>
                <a:latin typeface="Outfit"/>
              </a:rPr>
              <a:t>  The pieces of text the model reads and writes. You pay per token.</a:t>
            </a:r>
          </a:p>
          <a:p>
            <a:pPr>
              <a:lnSpc>
                <a:spcPct val="112000"/>
              </a:lnSpc>
              <a:spcAft>
                <a:spcPts val="1600"/>
              </a:spcAft>
            </a:pPr>
            <a:r>
              <a:rPr sz="2500" b="1" spc="-50">
                <a:solidFill>
                  <a:srgbClr val="B30022"/>
                </a:solidFill>
                <a:latin typeface="Space Grotesk"/>
              </a:rPr>
              <a:t>Context window.</a:t>
            </a:r>
            <a:r>
              <a:rPr sz="2500">
                <a:solidFill>
                  <a:srgbClr val="18171F"/>
                </a:solidFill>
                <a:latin typeface="Outfit"/>
              </a:rPr>
              <a:t>  How much it can hold in mind at once.</a:t>
            </a:r>
          </a:p>
          <a:p>
            <a:pPr>
              <a:lnSpc>
                <a:spcPct val="112000"/>
              </a:lnSpc>
              <a:spcAft>
                <a:spcPts val="1600"/>
              </a:spcAft>
            </a:pPr>
            <a:r>
              <a:rPr sz="2500" b="1" spc="-50">
                <a:solidFill>
                  <a:srgbClr val="B30022"/>
                </a:solidFill>
                <a:latin typeface="Space Grotesk"/>
              </a:rPr>
              <a:t>The payoff.</a:t>
            </a:r>
            <a:r>
              <a:rPr sz="2500">
                <a:solidFill>
                  <a:srgbClr val="18171F"/>
                </a:solidFill>
                <a:latin typeface="Outfit"/>
              </a:rPr>
              <a:t>  Good context means you say things once, not every time. That saves tokens, and money.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5E6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58368"/>
            <a:ext cx="9144000" cy="640080"/>
          </a:xfrm>
          <a:prstGeom prst="rect">
            <a:avLst/>
          </a:prstGeom>
          <a:noFill/>
        </p:spPr>
        <p:txBody>
          <a:bodyPr wrap="square">
            <a:spAutoFit/>
          </a:bodyPr>
          <a:lstStyle/>
          <a:p>
            <a:pPr algn="l">
              <a:lnSpc>
                <a:spcPct val="110000"/>
              </a:lnSpc>
            </a:pPr>
            <a:r>
              <a:rPr sz="3200" b="1">
                <a:solidFill>
                  <a:srgbClr val="9E3E58"/>
                </a:solidFill>
                <a:latin typeface="Caveat"/>
              </a:rPr>
              <a:t>same page</a:t>
            </a:r>
          </a:p>
        </p:txBody>
      </p:sp>
      <p:sp>
        <p:nvSpPr>
          <p:cNvPr id="4" name="TextBox 3"/>
          <p:cNvSpPr txBox="1"/>
          <p:nvPr/>
        </p:nvSpPr>
        <p:spPr>
          <a:xfrm>
            <a:off x="822960" y="1234440"/>
            <a:ext cx="10607040" cy="1280160"/>
          </a:xfrm>
          <a:prstGeom prst="rect">
            <a:avLst/>
          </a:prstGeom>
          <a:noFill/>
        </p:spPr>
        <p:txBody>
          <a:bodyPr wrap="square">
            <a:spAutoFit/>
          </a:bodyPr>
          <a:lstStyle/>
          <a:p>
            <a:pPr algn="l">
              <a:lnSpc>
                <a:spcPct val="103000"/>
              </a:lnSpc>
            </a:pPr>
            <a:r>
              <a:rPr sz="3600" b="1" spc="-150">
                <a:solidFill>
                  <a:srgbClr val="18171F"/>
                </a:solidFill>
                <a:latin typeface="Space Grotesk"/>
              </a:rPr>
              <a:t>Why it makes things up, and the fix</a:t>
            </a:r>
          </a:p>
        </p:txBody>
      </p:sp>
      <p:sp>
        <p:nvSpPr>
          <p:cNvPr id="5" name="TextBox 4"/>
          <p:cNvSpPr txBox="1"/>
          <p:nvPr/>
        </p:nvSpPr>
        <p:spPr>
          <a:xfrm>
            <a:off x="822960" y="2651760"/>
            <a:ext cx="10607040" cy="3840480"/>
          </a:xfrm>
          <a:prstGeom prst="rect">
            <a:avLst/>
          </a:prstGeom>
          <a:noFill/>
        </p:spPr>
        <p:txBody>
          <a:bodyPr wrap="square">
            <a:spAutoFit/>
          </a:bodyPr>
          <a:lstStyle/>
          <a:p>
            <a:pPr>
              <a:lnSpc>
                <a:spcPct val="112000"/>
              </a:lnSpc>
              <a:spcAft>
                <a:spcPts val="1600"/>
              </a:spcAft>
            </a:pPr>
            <a:r>
              <a:rPr sz="2500" b="1" spc="-50">
                <a:solidFill>
                  <a:srgbClr val="B30022"/>
                </a:solidFill>
                <a:latin typeface="Space Grotesk"/>
              </a:rPr>
              <a:t>It predicts.</a:t>
            </a:r>
            <a:r>
              <a:rPr sz="2500">
                <a:solidFill>
                  <a:srgbClr val="18171F"/>
                </a:solidFill>
                <a:latin typeface="Outfit"/>
              </a:rPr>
              <a:t>  A model writes likely text, so it will invent a citation that looks right.</a:t>
            </a:r>
          </a:p>
          <a:p>
            <a:pPr>
              <a:lnSpc>
                <a:spcPct val="112000"/>
              </a:lnSpc>
              <a:spcAft>
                <a:spcPts val="1600"/>
              </a:spcAft>
            </a:pPr>
            <a:r>
              <a:rPr sz="2500" b="1" spc="-50">
                <a:solidFill>
                  <a:srgbClr val="B30022"/>
                </a:solidFill>
                <a:latin typeface="Space Grotesk"/>
              </a:rPr>
              <a:t>Grounding.</a:t>
            </a:r>
            <a:r>
              <a:rPr sz="2500">
                <a:solidFill>
                  <a:srgbClr val="18171F"/>
                </a:solidFill>
                <a:latin typeface="Outfit"/>
              </a:rPr>
              <a:t>  Give it real sources and tell it to use only those.</a:t>
            </a:r>
          </a:p>
          <a:p>
            <a:pPr>
              <a:lnSpc>
                <a:spcPct val="112000"/>
              </a:lnSpc>
              <a:spcAft>
                <a:spcPts val="1600"/>
              </a:spcAft>
            </a:pPr>
            <a:r>
              <a:rPr sz="2500" b="1" spc="-50">
                <a:solidFill>
                  <a:srgbClr val="B30022"/>
                </a:solidFill>
                <a:latin typeface="Space Grotesk"/>
              </a:rPr>
              <a:t>Here.</a:t>
            </a:r>
            <a:r>
              <a:rPr sz="2500">
                <a:solidFill>
                  <a:srgbClr val="18171F"/>
                </a:solidFill>
                <a:latin typeface="Outfit"/>
              </a:rPr>
              <a:t>  That is what the literature folder in your workspace is for.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5E6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58368"/>
            <a:ext cx="9144000" cy="640080"/>
          </a:xfrm>
          <a:prstGeom prst="rect">
            <a:avLst/>
          </a:prstGeom>
          <a:noFill/>
        </p:spPr>
        <p:txBody>
          <a:bodyPr wrap="square">
            <a:spAutoFit/>
          </a:bodyPr>
          <a:lstStyle/>
          <a:p>
            <a:pPr algn="l">
              <a:lnSpc>
                <a:spcPct val="110000"/>
              </a:lnSpc>
            </a:pPr>
            <a:r>
              <a:rPr sz="3200" b="1">
                <a:solidFill>
                  <a:srgbClr val="9E3E58"/>
                </a:solidFill>
                <a:latin typeface="Caveat"/>
              </a:rPr>
              <a:t>good habits</a:t>
            </a:r>
          </a:p>
        </p:txBody>
      </p:sp>
      <p:sp>
        <p:nvSpPr>
          <p:cNvPr id="4" name="TextBox 3"/>
          <p:cNvSpPr txBox="1"/>
          <p:nvPr/>
        </p:nvSpPr>
        <p:spPr>
          <a:xfrm>
            <a:off x="822960" y="1234440"/>
            <a:ext cx="10607040" cy="1280160"/>
          </a:xfrm>
          <a:prstGeom prst="rect">
            <a:avLst/>
          </a:prstGeom>
          <a:noFill/>
        </p:spPr>
        <p:txBody>
          <a:bodyPr wrap="square">
            <a:spAutoFit/>
          </a:bodyPr>
          <a:lstStyle/>
          <a:p>
            <a:pPr algn="l">
              <a:lnSpc>
                <a:spcPct val="103000"/>
              </a:lnSpc>
            </a:pPr>
            <a:r>
              <a:rPr sz="4200" b="1" spc="-150">
                <a:solidFill>
                  <a:srgbClr val="18171F"/>
                </a:solidFill>
                <a:latin typeface="Space Grotesk"/>
              </a:rPr>
              <a:t>Set it up to win</a:t>
            </a:r>
          </a:p>
        </p:txBody>
      </p:sp>
      <p:sp>
        <p:nvSpPr>
          <p:cNvPr id="5" name="TextBox 4"/>
          <p:cNvSpPr txBox="1"/>
          <p:nvPr/>
        </p:nvSpPr>
        <p:spPr>
          <a:xfrm>
            <a:off x="822960" y="2651760"/>
            <a:ext cx="10607040" cy="3840480"/>
          </a:xfrm>
          <a:prstGeom prst="rect">
            <a:avLst/>
          </a:prstGeom>
          <a:noFill/>
        </p:spPr>
        <p:txBody>
          <a:bodyPr wrap="square">
            <a:spAutoFit/>
          </a:bodyPr>
          <a:lstStyle/>
          <a:p>
            <a:pPr>
              <a:lnSpc>
                <a:spcPct val="112000"/>
              </a:lnSpc>
              <a:spcAft>
                <a:spcPts val="1600"/>
              </a:spcAft>
            </a:pPr>
            <a:r>
              <a:rPr sz="2600" b="1" spc="-50">
                <a:solidFill>
                  <a:srgbClr val="B30022"/>
                </a:solidFill>
                <a:latin typeface="Space Grotesk"/>
              </a:rPr>
              <a:t>Context first.</a:t>
            </a:r>
            <a:r>
              <a:rPr sz="2600">
                <a:solidFill>
                  <a:srgbClr val="18171F"/>
                </a:solidFill>
                <a:latin typeface="Outfit"/>
              </a:rPr>
              <a:t>  Tell it who you are before you ask for anything.</a:t>
            </a:r>
          </a:p>
          <a:p>
            <a:pPr>
              <a:lnSpc>
                <a:spcPct val="112000"/>
              </a:lnSpc>
              <a:spcAft>
                <a:spcPts val="1600"/>
              </a:spcAft>
            </a:pPr>
            <a:r>
              <a:rPr sz="2600" b="1" spc="-50">
                <a:solidFill>
                  <a:srgbClr val="B30022"/>
                </a:solidFill>
                <a:latin typeface="Space Grotesk"/>
              </a:rPr>
              <a:t>Be specific.</a:t>
            </a:r>
            <a:r>
              <a:rPr sz="2600">
                <a:solidFill>
                  <a:srgbClr val="18171F"/>
                </a:solidFill>
                <a:latin typeface="Outfit"/>
              </a:rPr>
              <a:t>  State the goal, the audience, and the length.</a:t>
            </a:r>
          </a:p>
          <a:p>
            <a:pPr>
              <a:lnSpc>
                <a:spcPct val="112000"/>
              </a:lnSpc>
              <a:spcAft>
                <a:spcPts val="1600"/>
              </a:spcAft>
            </a:pPr>
            <a:r>
              <a:rPr sz="2600" b="1" spc="-50">
                <a:solidFill>
                  <a:srgbClr val="B30022"/>
                </a:solidFill>
                <a:latin typeface="Space Grotesk"/>
              </a:rPr>
              <a:t>Point to the rubric.</a:t>
            </a:r>
            <a:r>
              <a:rPr sz="2600">
                <a:solidFill>
                  <a:srgbClr val="18171F"/>
                </a:solidFill>
                <a:latin typeface="Outfit"/>
              </a:rPr>
              <a:t>  Give it the review criteria to hit.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5E6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58368"/>
            <a:ext cx="9144000" cy="640080"/>
          </a:xfrm>
          <a:prstGeom prst="rect">
            <a:avLst/>
          </a:prstGeom>
          <a:noFill/>
        </p:spPr>
        <p:txBody>
          <a:bodyPr wrap="square">
            <a:spAutoFit/>
          </a:bodyPr>
          <a:lstStyle/>
          <a:p>
            <a:pPr algn="l">
              <a:lnSpc>
                <a:spcPct val="110000"/>
              </a:lnSpc>
            </a:pPr>
            <a:r>
              <a:rPr sz="3200" b="1">
                <a:solidFill>
                  <a:srgbClr val="9E3E58"/>
                </a:solidFill>
                <a:latin typeface="Caveat"/>
              </a:rPr>
              <a:t>good habits</a:t>
            </a:r>
          </a:p>
        </p:txBody>
      </p:sp>
      <p:sp>
        <p:nvSpPr>
          <p:cNvPr id="4" name="TextBox 3"/>
          <p:cNvSpPr txBox="1"/>
          <p:nvPr/>
        </p:nvSpPr>
        <p:spPr>
          <a:xfrm>
            <a:off x="822960" y="1234440"/>
            <a:ext cx="10607040" cy="1280160"/>
          </a:xfrm>
          <a:prstGeom prst="rect">
            <a:avLst/>
          </a:prstGeom>
          <a:noFill/>
        </p:spPr>
        <p:txBody>
          <a:bodyPr wrap="square">
            <a:spAutoFit/>
          </a:bodyPr>
          <a:lstStyle/>
          <a:p>
            <a:pPr algn="l">
              <a:lnSpc>
                <a:spcPct val="103000"/>
              </a:lnSpc>
            </a:pPr>
            <a:r>
              <a:rPr sz="4200" b="1" spc="-150">
                <a:solidFill>
                  <a:srgbClr val="18171F"/>
                </a:solidFill>
                <a:latin typeface="Space Grotesk"/>
              </a:rPr>
              <a:t>Keep it honest</a:t>
            </a:r>
          </a:p>
        </p:txBody>
      </p:sp>
      <p:sp>
        <p:nvSpPr>
          <p:cNvPr id="5" name="TextBox 4"/>
          <p:cNvSpPr txBox="1"/>
          <p:nvPr/>
        </p:nvSpPr>
        <p:spPr>
          <a:xfrm>
            <a:off x="822960" y="2651760"/>
            <a:ext cx="10607040" cy="3840480"/>
          </a:xfrm>
          <a:prstGeom prst="rect">
            <a:avLst/>
          </a:prstGeom>
          <a:noFill/>
        </p:spPr>
        <p:txBody>
          <a:bodyPr wrap="square">
            <a:spAutoFit/>
          </a:bodyPr>
          <a:lstStyle/>
          <a:p>
            <a:pPr>
              <a:lnSpc>
                <a:spcPct val="112000"/>
              </a:lnSpc>
              <a:spcAft>
                <a:spcPts val="1600"/>
              </a:spcAft>
            </a:pPr>
            <a:r>
              <a:rPr sz="2600" b="1" spc="-50">
                <a:solidFill>
                  <a:srgbClr val="B30022"/>
                </a:solidFill>
                <a:latin typeface="Space Grotesk"/>
              </a:rPr>
              <a:t>Ground every claim.</a:t>
            </a:r>
            <a:r>
              <a:rPr sz="2600">
                <a:solidFill>
                  <a:srgbClr val="18171F"/>
                </a:solidFill>
                <a:latin typeface="Outfit"/>
              </a:rPr>
              <a:t>  Tie it to a real source you provided.</a:t>
            </a:r>
          </a:p>
          <a:p>
            <a:pPr>
              <a:lnSpc>
                <a:spcPct val="112000"/>
              </a:lnSpc>
              <a:spcAft>
                <a:spcPts val="1600"/>
              </a:spcAft>
            </a:pPr>
            <a:r>
              <a:rPr sz="2600" b="1" spc="-50">
                <a:solidFill>
                  <a:srgbClr val="B30022"/>
                </a:solidFill>
                <a:latin typeface="Space Grotesk"/>
              </a:rPr>
              <a:t>Trust nothing unverified.</a:t>
            </a:r>
            <a:r>
              <a:rPr sz="2600">
                <a:solidFill>
                  <a:srgbClr val="18171F"/>
                </a:solidFill>
                <a:latin typeface="Outfit"/>
              </a:rPr>
              <a:t>  Check every citation and statistic yourself.</a:t>
            </a:r>
          </a:p>
          <a:p>
            <a:pPr>
              <a:lnSpc>
                <a:spcPct val="112000"/>
              </a:lnSpc>
              <a:spcAft>
                <a:spcPts val="1600"/>
              </a:spcAft>
            </a:pPr>
            <a:r>
              <a:rPr sz="2600" b="1" spc="-50">
                <a:solidFill>
                  <a:srgbClr val="B30022"/>
                </a:solidFill>
                <a:latin typeface="Space Grotesk"/>
              </a:rPr>
              <a:t>Let it say I do not know.</a:t>
            </a:r>
            <a:r>
              <a:rPr sz="2600">
                <a:solidFill>
                  <a:srgbClr val="18171F"/>
                </a:solidFill>
                <a:latin typeface="Outfit"/>
              </a:rPr>
              <a:t>  If it cannot support a claim, it should flag it, not fake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5E6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58368"/>
            <a:ext cx="9144000" cy="640080"/>
          </a:xfrm>
          <a:prstGeom prst="rect">
            <a:avLst/>
          </a:prstGeom>
          <a:noFill/>
        </p:spPr>
        <p:txBody>
          <a:bodyPr wrap="square">
            <a:spAutoFit/>
          </a:bodyPr>
          <a:lstStyle/>
          <a:p>
            <a:pPr algn="l">
              <a:lnSpc>
                <a:spcPct val="110000"/>
              </a:lnSpc>
            </a:pPr>
            <a:r>
              <a:rPr sz="3200" b="1">
                <a:solidFill>
                  <a:srgbClr val="9E3E58"/>
                </a:solidFill>
                <a:latin typeface="Caveat"/>
              </a:rPr>
              <a:t>good habits</a:t>
            </a:r>
          </a:p>
        </p:txBody>
      </p:sp>
      <p:sp>
        <p:nvSpPr>
          <p:cNvPr id="4" name="TextBox 3"/>
          <p:cNvSpPr txBox="1"/>
          <p:nvPr/>
        </p:nvSpPr>
        <p:spPr>
          <a:xfrm>
            <a:off x="822960" y="1234440"/>
            <a:ext cx="10607040" cy="1280160"/>
          </a:xfrm>
          <a:prstGeom prst="rect">
            <a:avLst/>
          </a:prstGeom>
          <a:noFill/>
        </p:spPr>
        <p:txBody>
          <a:bodyPr wrap="square">
            <a:spAutoFit/>
          </a:bodyPr>
          <a:lstStyle/>
          <a:p>
            <a:pPr algn="l">
              <a:lnSpc>
                <a:spcPct val="103000"/>
              </a:lnSpc>
            </a:pPr>
            <a:r>
              <a:rPr sz="4200" b="1" spc="-150">
                <a:solidFill>
                  <a:srgbClr val="18171F"/>
                </a:solidFill>
                <a:latin typeface="Space Grotesk"/>
              </a:rPr>
              <a:t>You drive</a:t>
            </a:r>
          </a:p>
        </p:txBody>
      </p:sp>
      <p:sp>
        <p:nvSpPr>
          <p:cNvPr id="5" name="TextBox 4"/>
          <p:cNvSpPr txBox="1"/>
          <p:nvPr/>
        </p:nvSpPr>
        <p:spPr>
          <a:xfrm>
            <a:off x="822960" y="2651760"/>
            <a:ext cx="10607040" cy="3840480"/>
          </a:xfrm>
          <a:prstGeom prst="rect">
            <a:avLst/>
          </a:prstGeom>
          <a:noFill/>
        </p:spPr>
        <p:txBody>
          <a:bodyPr wrap="square">
            <a:spAutoFit/>
          </a:bodyPr>
          <a:lstStyle/>
          <a:p>
            <a:pPr>
              <a:lnSpc>
                <a:spcPct val="112000"/>
              </a:lnSpc>
              <a:spcAft>
                <a:spcPts val="1600"/>
              </a:spcAft>
            </a:pPr>
            <a:r>
              <a:rPr sz="2600" b="1" spc="-50">
                <a:solidFill>
                  <a:srgbClr val="B30022"/>
                </a:solidFill>
                <a:latin typeface="Space Grotesk"/>
              </a:rPr>
              <a:t>You decide.</a:t>
            </a:r>
            <a:r>
              <a:rPr sz="2600">
                <a:solidFill>
                  <a:srgbClr val="18171F"/>
                </a:solidFill>
                <a:latin typeface="Outfit"/>
              </a:rPr>
              <a:t>  The AI accelerates; the judgment stays yours.</a:t>
            </a:r>
          </a:p>
          <a:p>
            <a:pPr>
              <a:lnSpc>
                <a:spcPct val="112000"/>
              </a:lnSpc>
              <a:spcAft>
                <a:spcPts val="1600"/>
              </a:spcAft>
            </a:pPr>
            <a:r>
              <a:rPr sz="2600" b="1" spc="-50">
                <a:solidFill>
                  <a:srgbClr val="B30022"/>
                </a:solidFill>
                <a:latin typeface="Space Grotesk"/>
              </a:rPr>
              <a:t>Iterate.</a:t>
            </a:r>
            <a:r>
              <a:rPr sz="2600">
                <a:solidFill>
                  <a:srgbClr val="18171F"/>
                </a:solidFill>
                <a:latin typeface="Outfit"/>
              </a:rPr>
              <a:t>  Draft, react, refine. The first pass is a starting point.</a:t>
            </a:r>
          </a:p>
          <a:p>
            <a:pPr>
              <a:lnSpc>
                <a:spcPct val="112000"/>
              </a:lnSpc>
              <a:spcAft>
                <a:spcPts val="1600"/>
              </a:spcAft>
            </a:pPr>
            <a:r>
              <a:rPr sz="2600" b="1" spc="-50">
                <a:solidFill>
                  <a:srgbClr val="B30022"/>
                </a:solidFill>
                <a:latin typeface="Space Grotesk"/>
              </a:rPr>
              <a:t>Verify.</a:t>
            </a:r>
            <a:r>
              <a:rPr sz="2600">
                <a:solidFill>
                  <a:srgbClr val="18171F"/>
                </a:solidFill>
                <a:latin typeface="Outfit"/>
              </a:rPr>
              <a:t>  Check every number, date, and name before it goes out.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817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1371600"/>
            <a:ext cx="1371600" cy="82296"/>
          </a:xfrm>
          <a:prstGeom prst="rect">
            <a:avLst/>
          </a:prstGeom>
          <a:solidFill>
            <a:srgbClr val="B30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00200"/>
            <a:ext cx="10607040" cy="1280160"/>
          </a:xfrm>
          <a:prstGeom prst="rect">
            <a:avLst/>
          </a:prstGeom>
          <a:noFill/>
        </p:spPr>
        <p:txBody>
          <a:bodyPr wrap="square">
            <a:spAutoFit/>
          </a:bodyPr>
          <a:lstStyle/>
          <a:p>
            <a:pPr algn="l">
              <a:lnSpc>
                <a:spcPct val="103000"/>
              </a:lnSpc>
            </a:pPr>
            <a:r>
              <a:rPr sz="4000" b="1" spc="-150">
                <a:solidFill>
                  <a:srgbClr val="E5E6E0"/>
                </a:solidFill>
                <a:latin typeface="Space Grotesk"/>
              </a:rPr>
              <a:t>This is how the workspace works</a:t>
            </a:r>
          </a:p>
        </p:txBody>
      </p:sp>
      <p:sp>
        <p:nvSpPr>
          <p:cNvPr id="5" name="TextBox 4"/>
          <p:cNvSpPr txBox="1"/>
          <p:nvPr/>
        </p:nvSpPr>
        <p:spPr>
          <a:xfrm>
            <a:off x="822960" y="3063240"/>
            <a:ext cx="10424160" cy="1828800"/>
          </a:xfrm>
          <a:prstGeom prst="rect">
            <a:avLst/>
          </a:prstGeom>
          <a:noFill/>
        </p:spPr>
        <p:txBody>
          <a:bodyPr wrap="square">
            <a:spAutoFit/>
          </a:bodyPr>
          <a:lstStyle/>
          <a:p>
            <a:pPr algn="l">
              <a:lnSpc>
                <a:spcPct val="130000"/>
              </a:lnSpc>
            </a:pPr>
            <a:r>
              <a:rPr sz="2800" b="0">
                <a:solidFill>
                  <a:srgbClr val="B9BAB4"/>
                </a:solidFill>
                <a:latin typeface="Outfit"/>
              </a:rPr>
              <a:t>Context in, grounded help out. You are about to open a workspace built on exactly these ideas.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817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58368"/>
            <a:ext cx="9144000" cy="640080"/>
          </a:xfrm>
          <a:prstGeom prst="rect">
            <a:avLst/>
          </a:prstGeom>
          <a:noFill/>
        </p:spPr>
        <p:txBody>
          <a:bodyPr wrap="square">
            <a:spAutoFit/>
          </a:bodyPr>
          <a:lstStyle/>
          <a:p>
            <a:pPr algn="l">
              <a:lnSpc>
                <a:spcPct val="110000"/>
              </a:lnSpc>
            </a:pPr>
            <a:r>
              <a:rPr sz="3200" b="1">
                <a:solidFill>
                  <a:srgbClr val="B30022"/>
                </a:solidFill>
                <a:latin typeface="Caveat"/>
              </a:rPr>
              <a:t>let's build.</a:t>
            </a:r>
          </a:p>
        </p:txBody>
      </p:sp>
      <p:sp>
        <p:nvSpPr>
          <p:cNvPr id="4" name="TextBox 3"/>
          <p:cNvSpPr txBox="1"/>
          <p:nvPr/>
        </p:nvSpPr>
        <p:spPr>
          <a:xfrm>
            <a:off x="822960" y="1920240"/>
            <a:ext cx="10881360" cy="2468880"/>
          </a:xfrm>
          <a:prstGeom prst="rect">
            <a:avLst/>
          </a:prstGeom>
          <a:noFill/>
        </p:spPr>
        <p:txBody>
          <a:bodyPr wrap="square">
            <a:spAutoFit/>
          </a:bodyPr>
          <a:lstStyle/>
          <a:p>
            <a:pPr algn="l">
              <a:lnSpc>
                <a:spcPct val="105000"/>
              </a:lnSpc>
            </a:pPr>
            <a:r>
              <a:rPr sz="5000" b="1" spc="-200">
                <a:solidFill>
                  <a:srgbClr val="E5E6E0"/>
                </a:solidFill>
                <a:latin typeface="Space Grotesk"/>
              </a:rPr>
              <a:t>Fill in your context once.</a:t>
            </a:r>
          </a:p>
          <a:p>
            <a:pPr algn="l">
              <a:lnSpc>
                <a:spcPct val="105000"/>
              </a:lnSpc>
            </a:pPr>
            <a:r>
              <a:rPr sz="5000" b="1" spc="-200">
                <a:solidFill>
                  <a:srgbClr val="E5E6E0"/>
                </a:solidFill>
                <a:latin typeface="Space Grotesk"/>
              </a:rPr>
              <a:t>Reuse it on every proposal.</a:t>
            </a:r>
          </a:p>
        </p:txBody>
      </p:sp>
      <p:sp>
        <p:nvSpPr>
          <p:cNvPr id="5" name="TextBox 4"/>
          <p:cNvSpPr txBox="1"/>
          <p:nvPr/>
        </p:nvSpPr>
        <p:spPr>
          <a:xfrm>
            <a:off x="822960" y="6217920"/>
            <a:ext cx="5486400" cy="365760"/>
          </a:xfrm>
          <a:prstGeom prst="rect">
            <a:avLst/>
          </a:prstGeom>
          <a:noFill/>
        </p:spPr>
        <p:txBody>
          <a:bodyPr wrap="square">
            <a:spAutoFit/>
          </a:bodyPr>
          <a:lstStyle/>
          <a:p>
            <a:pPr algn="l">
              <a:lnSpc>
                <a:spcPct val="110000"/>
              </a:lnSpc>
            </a:pPr>
            <a:r>
              <a:rPr sz="1200" b="1" spc="150">
                <a:solidFill>
                  <a:srgbClr val="B9BAB4"/>
                </a:solidFill>
                <a:latin typeface="Space Grotesk"/>
              </a:rPr>
              <a:t>ashleyscruse.com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