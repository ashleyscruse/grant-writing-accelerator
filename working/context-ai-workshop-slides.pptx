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5E6E0"/>
        </a:solidFill>
        <a:effectLst/>
      </p:bgPr>
    </p:bg>
    <p:spTree>
      <p:nvGrpSpPr>
        <p:cNvPr id="1" name=""/>
        <p:cNvGrpSpPr/>
        <p:nvPr/>
      </p:nvGrpSpPr>
      <p:grpSpPr/>
      <p:sp>
        <p:nvSpPr>
          <p:cNvPr id="2" name="Rectangle 1"/>
          <p:cNvSpPr/>
          <p:nvPr/>
        </p:nvSpPr>
        <p:spPr>
          <a:xfrm rot="21480000">
            <a:off x="822960" y="914400"/>
            <a:ext cx="2194560" cy="384048"/>
          </a:xfrm>
          <a:prstGeom prst="rect">
            <a:avLst/>
          </a:prstGeom>
          <a:noFill/>
          <a:ln w="19050">
            <a:solidFill>
              <a:srgbClr val="9E3E58"/>
            </a:solidFill>
          </a:ln>
        </p:spPr>
        <p:style>
          <a:lnRef idx="1">
            <a:schemeClr val="accent1"/>
          </a:lnRef>
          <a:fillRef idx="3">
            <a:schemeClr val="accent1"/>
          </a:fillRef>
          <a:effectRef idx="2">
            <a:schemeClr val="accent1"/>
          </a:effectRef>
          <a:fontRef idx="minor">
            <a:schemeClr val="lt1"/>
          </a:fontRef>
        </p:style>
        <p:txBody>
          <a:bodyPr rtlCol="0" anchor="ctr" lIns="109728" rIns="109728" tIns="36576" bIns="36576"/>
          <a:lstStyle/>
          <a:p>
            <a:pPr algn="ctr"/>
            <a:r>
              <a:rPr sz="1000" b="1" spc="200">
                <a:solidFill>
                  <a:srgbClr val="9E3E58"/>
                </a:solidFill>
                <a:latin typeface="Space Grotesk"/>
              </a:rPr>
              <a:t>AI WORKSHOP</a:t>
            </a:r>
          </a:p>
        </p:txBody>
      </p:sp>
      <p:sp>
        <p:nvSpPr>
          <p:cNvPr id="3" name="TextBox 2"/>
          <p:cNvSpPr txBox="1"/>
          <p:nvPr/>
        </p:nvSpPr>
        <p:spPr>
          <a:xfrm>
            <a:off x="822960" y="1554480"/>
            <a:ext cx="7315200" cy="1005840"/>
          </a:xfrm>
          <a:prstGeom prst="rect">
            <a:avLst/>
          </a:prstGeom>
          <a:noFill/>
        </p:spPr>
        <p:txBody>
          <a:bodyPr wrap="square" lIns="0" rIns="0" tIns="0" bIns="0">
            <a:spAutoFit/>
          </a:bodyPr>
          <a:lstStyle/>
          <a:p>
            <a:pPr algn="l"/>
            <a:r>
              <a:rPr sz="4400" b="1" i="0">
                <a:solidFill>
                  <a:srgbClr val="9E3E58"/>
                </a:solidFill>
                <a:latin typeface="Caveat"/>
              </a:rPr>
              <a:t>Before we build.</a:t>
            </a:r>
          </a:p>
        </p:txBody>
      </p:sp>
      <p:sp>
        <p:nvSpPr>
          <p:cNvPr id="4" name="TextBox 3"/>
          <p:cNvSpPr txBox="1"/>
          <p:nvPr/>
        </p:nvSpPr>
        <p:spPr>
          <a:xfrm>
            <a:off x="822960" y="2560320"/>
            <a:ext cx="10972800" cy="1645920"/>
          </a:xfrm>
          <a:prstGeom prst="rect">
            <a:avLst/>
          </a:prstGeom>
          <a:noFill/>
        </p:spPr>
        <p:txBody>
          <a:bodyPr wrap="none" lIns="0" rIns="0" tIns="0" bIns="0">
            <a:spAutoFit/>
          </a:bodyPr>
          <a:lstStyle/>
          <a:p>
            <a:pPr algn="l"/>
            <a:r>
              <a:rPr sz="9600" b="1" spc="-200">
                <a:solidFill>
                  <a:srgbClr val="18171F"/>
                </a:solidFill>
                <a:latin typeface="Space Grotesk"/>
              </a:rPr>
              <a:t>IT IS THE CONTEXT.</a:t>
            </a:r>
            <a:r>
              <a:rPr sz="9600" b="1" spc="-200">
                <a:solidFill>
                  <a:srgbClr val="B30022"/>
                </a:solidFill>
                <a:latin typeface="Space Grotesk"/>
              </a:rPr>
              <a:t/>
            </a:r>
            <a:r>
              <a:rPr sz="9600" b="1" spc="-200">
                <a:solidFill>
                  <a:srgbClr val="18171F"/>
                </a:solidFill>
                <a:latin typeface="Space Grotesk"/>
              </a:rPr>
              <a:t/>
            </a:r>
          </a:p>
        </p:txBody>
      </p:sp>
      <p:sp>
        <p:nvSpPr>
          <p:cNvPr id="5" name="Rectangle 4"/>
          <p:cNvSpPr/>
          <p:nvPr/>
        </p:nvSpPr>
        <p:spPr>
          <a:xfrm>
            <a:off x="2788920" y="4297680"/>
            <a:ext cx="6126480" cy="88900"/>
          </a:xfrm>
          <a:prstGeom prst="rect">
            <a:avLst/>
          </a:prstGeom>
          <a:solidFill>
            <a:srgbClr val="B30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937760"/>
            <a:ext cx="9144000" cy="1371600"/>
          </a:xfrm>
          <a:prstGeom prst="rect">
            <a:avLst/>
          </a:prstGeom>
          <a:noFill/>
        </p:spPr>
        <p:txBody>
          <a:bodyPr wrap="square" lIns="0" rIns="0" tIns="0" bIns="0">
            <a:spAutoFit/>
          </a:bodyPr>
          <a:lstStyle/>
          <a:p>
            <a:pPr algn="l"/>
            <a:r>
              <a:rPr sz="1800" b="0" i="0">
                <a:solidFill>
                  <a:srgbClr val="3D3B47"/>
                </a:solidFill>
                <a:latin typeface="Outfit"/>
              </a:rPr>
              <a:t>It is not the AI, it is the context. A short conversation before we open the workspace and set up yours.</a:t>
            </a:r>
          </a:p>
        </p:txBody>
      </p:sp>
      <p:sp>
        <p:nvSpPr>
          <p:cNvPr id="7" name="TextBox 6"/>
          <p:cNvSpPr txBox="1"/>
          <p:nvPr/>
        </p:nvSpPr>
        <p:spPr>
          <a:xfrm>
            <a:off x="822960" y="6263640"/>
            <a:ext cx="5486400" cy="320040"/>
          </a:xfrm>
          <a:prstGeom prst="rect">
            <a:avLst/>
          </a:prstGeom>
          <a:noFill/>
        </p:spPr>
        <p:txBody>
          <a:bodyPr wrap="square" lIns="0" rIns="0" tIns="0" bIns="0">
            <a:spAutoFit/>
          </a:bodyPr>
          <a:lstStyle/>
          <a:p>
            <a:pPr algn="l"/>
            <a:r>
              <a:rPr sz="1000" b="1" i="0" spc="300">
                <a:solidFill>
                  <a:srgbClr val="9E3E58"/>
                </a:solidFill>
                <a:latin typeface="Space Grotesk"/>
              </a:rPr>
              <a:t>ashleyscruse.com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DE7DF"/>
        </a:solidFill>
        <a:effectLst/>
      </p:bgPr>
    </p:bg>
    <p:spTree>
      <p:nvGrpSpPr>
        <p:cNvPr id="1" name=""/>
        <p:cNvGrpSpPr/>
        <p:nvPr/>
      </p:nvGrpSpPr>
      <p:grpSpPr/>
      <p:sp>
        <p:nvSpPr>
          <p:cNvPr id="2" name="TextBox 1"/>
          <p:cNvSpPr txBox="1"/>
          <p:nvPr/>
        </p:nvSpPr>
        <p:spPr>
          <a:xfrm>
            <a:off x="457200" y="1463040"/>
            <a:ext cx="11277295" cy="457200"/>
          </a:xfrm>
          <a:prstGeom prst="rect">
            <a:avLst/>
          </a:prstGeom>
          <a:noFill/>
        </p:spPr>
        <p:txBody>
          <a:bodyPr wrap="square" lIns="0" rIns="0" tIns="0" bIns="0">
            <a:spAutoFit/>
          </a:bodyPr>
          <a:lstStyle/>
          <a:p>
            <a:pPr algn="ctr"/>
            <a:r>
              <a:rPr sz="1200" b="1" i="0" spc="400">
                <a:solidFill>
                  <a:srgbClr val="9E3E58"/>
                </a:solidFill>
                <a:latin typeface="Space Grotesk"/>
              </a:rPr>
              <a:t>PART ONE</a:t>
            </a:r>
          </a:p>
        </p:txBody>
      </p:sp>
      <p:sp>
        <p:nvSpPr>
          <p:cNvPr id="3" name="TextBox 2"/>
          <p:cNvSpPr txBox="1"/>
          <p:nvPr/>
        </p:nvSpPr>
        <p:spPr>
          <a:xfrm>
            <a:off x="457200" y="2011680"/>
            <a:ext cx="11277295" cy="1005840"/>
          </a:xfrm>
          <a:prstGeom prst="rect">
            <a:avLst/>
          </a:prstGeom>
          <a:noFill/>
        </p:spPr>
        <p:txBody>
          <a:bodyPr wrap="square" lIns="0" rIns="0" tIns="0" bIns="0">
            <a:spAutoFit/>
          </a:bodyPr>
          <a:lstStyle/>
          <a:p>
            <a:pPr algn="ctr"/>
            <a:r>
              <a:rPr sz="4800" b="1" i="0">
                <a:solidFill>
                  <a:srgbClr val="9E3E58"/>
                </a:solidFill>
                <a:latin typeface="Caveat"/>
              </a:rPr>
              <a:t>Where we start.</a:t>
            </a:r>
          </a:p>
        </p:txBody>
      </p:sp>
      <p:sp>
        <p:nvSpPr>
          <p:cNvPr id="4" name="TextBox 3"/>
          <p:cNvSpPr txBox="1"/>
          <p:nvPr/>
        </p:nvSpPr>
        <p:spPr>
          <a:xfrm>
            <a:off x="457200" y="3108960"/>
            <a:ext cx="11277295" cy="1828800"/>
          </a:xfrm>
          <a:prstGeom prst="rect">
            <a:avLst/>
          </a:prstGeom>
          <a:noFill/>
        </p:spPr>
        <p:txBody>
          <a:bodyPr wrap="square" lIns="0" rIns="0" tIns="0" bIns="0">
            <a:spAutoFit/>
          </a:bodyPr>
          <a:lstStyle/>
          <a:p>
            <a:pPr algn="ctr"/>
            <a:r>
              <a:rPr sz="10800" b="1" i="0" spc="-200">
                <a:solidFill>
                  <a:srgbClr val="18171F"/>
                </a:solidFill>
                <a:latin typeface="Space Grotesk"/>
              </a:rPr>
              <a:t>THE PROBLEM.</a:t>
            </a:r>
          </a:p>
        </p:txBody>
      </p:sp>
      <p:sp>
        <p:nvSpPr>
          <p:cNvPr id="5" name="Rectangle 4"/>
          <p:cNvSpPr/>
          <p:nvPr/>
        </p:nvSpPr>
        <p:spPr>
          <a:xfrm>
            <a:off x="4952847" y="5212080"/>
            <a:ext cx="2286000" cy="38100"/>
          </a:xfrm>
          <a:prstGeom prst="rect">
            <a:avLst/>
          </a:prstGeom>
          <a:solidFill>
            <a:srgbClr val="9E3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5E6E0"/>
        </a:solidFill>
        <a:effectLst/>
      </p:bgPr>
    </p:bg>
    <p:spTree>
      <p:nvGrpSpPr>
        <p:cNvPr id="1" name=""/>
        <p:cNvGrpSpPr/>
        <p:nvPr/>
      </p:nvGrpSpPr>
      <p:grpSpPr/>
      <p:sp>
        <p:nvSpPr>
          <p:cNvPr id="2" name="Rectangle 1"/>
          <p:cNvSpPr/>
          <p:nvPr/>
        </p:nvSpPr>
        <p:spPr>
          <a:xfrm rot="21480000">
            <a:off x="822960" y="914400"/>
            <a:ext cx="2194560" cy="384048"/>
          </a:xfrm>
          <a:prstGeom prst="rect">
            <a:avLst/>
          </a:prstGeom>
          <a:noFill/>
          <a:ln w="19050">
            <a:solidFill>
              <a:srgbClr val="9E3E58"/>
            </a:solidFill>
          </a:ln>
        </p:spPr>
        <p:style>
          <a:lnRef idx="1">
            <a:schemeClr val="accent1"/>
          </a:lnRef>
          <a:fillRef idx="3">
            <a:schemeClr val="accent1"/>
          </a:fillRef>
          <a:effectRef idx="2">
            <a:schemeClr val="accent1"/>
          </a:effectRef>
          <a:fontRef idx="minor">
            <a:schemeClr val="lt1"/>
          </a:fontRef>
        </p:style>
        <p:txBody>
          <a:bodyPr rtlCol="0" anchor="ctr" lIns="109728" rIns="109728" tIns="36576" bIns="36576"/>
          <a:lstStyle/>
          <a:p>
            <a:pPr algn="ctr"/>
            <a:r>
              <a:rPr sz="1000" b="1" spc="200">
                <a:solidFill>
                  <a:srgbClr val="9E3E58"/>
                </a:solidFill>
                <a:latin typeface="Space Grotesk"/>
              </a:rPr>
              <a:t>THE STORY</a:t>
            </a:r>
          </a:p>
        </p:txBody>
      </p:sp>
      <p:sp>
        <p:nvSpPr>
          <p:cNvPr id="3" name="TextBox 2"/>
          <p:cNvSpPr txBox="1"/>
          <p:nvPr/>
        </p:nvSpPr>
        <p:spPr>
          <a:xfrm>
            <a:off x="822960" y="1554480"/>
            <a:ext cx="6858000" cy="914400"/>
          </a:xfrm>
          <a:prstGeom prst="rect">
            <a:avLst/>
          </a:prstGeom>
          <a:noFill/>
        </p:spPr>
        <p:txBody>
          <a:bodyPr wrap="square" lIns="0" rIns="0" tIns="0" bIns="0">
            <a:spAutoFit/>
          </a:bodyPr>
          <a:lstStyle/>
          <a:p>
            <a:pPr algn="l"/>
            <a:r>
              <a:rPr sz="4000" b="1" i="0">
                <a:solidFill>
                  <a:srgbClr val="9E3E58"/>
                </a:solidFill>
                <a:latin typeface="Caveat"/>
              </a:rPr>
              <a:t>It's not you.</a:t>
            </a:r>
          </a:p>
        </p:txBody>
      </p:sp>
      <p:sp>
        <p:nvSpPr>
          <p:cNvPr id="4" name="TextBox 3"/>
          <p:cNvSpPr txBox="1"/>
          <p:nvPr/>
        </p:nvSpPr>
        <p:spPr>
          <a:xfrm>
            <a:off x="822960" y="2377440"/>
            <a:ext cx="6858000" cy="2103120"/>
          </a:xfrm>
          <a:prstGeom prst="rect">
            <a:avLst/>
          </a:prstGeom>
          <a:noFill/>
        </p:spPr>
        <p:txBody>
          <a:bodyPr wrap="square" lIns="0" rIns="0" tIns="0" bIns="0">
            <a:spAutoFit/>
          </a:bodyPr>
          <a:lstStyle/>
          <a:p>
            <a:pPr algn="l"/>
            <a:r>
              <a:rPr sz="5200" b="1" i="0" spc="-150">
                <a:solidFill>
                  <a:srgbClr val="18171F"/>
                </a:solidFill>
                <a:latin typeface="Space Grotesk"/>
              </a:rPr>
              <a:t>EVERY CONVERSATION</a:t>
            </a:r>
          </a:p>
          <a:p>
            <a:r>
              <a:t>STARTS AT ZERO.</a:t>
            </a:r>
          </a:p>
        </p:txBody>
      </p:sp>
      <p:sp>
        <p:nvSpPr>
          <p:cNvPr id="5" name="TextBox 4"/>
          <p:cNvSpPr txBox="1"/>
          <p:nvPr/>
        </p:nvSpPr>
        <p:spPr>
          <a:xfrm>
            <a:off x="822960" y="4572000"/>
            <a:ext cx="6858000" cy="1828800"/>
          </a:xfrm>
          <a:prstGeom prst="rect">
            <a:avLst/>
          </a:prstGeom>
          <a:noFill/>
        </p:spPr>
        <p:txBody>
          <a:bodyPr wrap="square" lIns="0" rIns="0" tIns="0" bIns="0">
            <a:spAutoFit/>
          </a:bodyPr>
          <a:lstStyle/>
          <a:p>
            <a:pPr algn="l"/>
            <a:r>
              <a:rPr sz="1700" b="0" i="0">
                <a:solidFill>
                  <a:srgbClr val="3D3B47"/>
                </a:solidFill>
                <a:latin typeface="Outfit"/>
              </a:rPr>
              <a:t>You sit down to work. You open the AI and start re-explaining who you are and what you are doing, because it has no memory of you. Ten minutes later you finally get help, and it is generic.</a:t>
            </a:r>
          </a:p>
        </p:txBody>
      </p:sp>
      <p:sp>
        <p:nvSpPr>
          <p:cNvPr id="6" name="TextBox 5"/>
          <p:cNvSpPr txBox="1"/>
          <p:nvPr/>
        </p:nvSpPr>
        <p:spPr>
          <a:xfrm>
            <a:off x="8229600" y="1645920"/>
            <a:ext cx="3657600" cy="5029200"/>
          </a:xfrm>
          <a:prstGeom prst="rect">
            <a:avLst/>
          </a:prstGeom>
          <a:noFill/>
        </p:spPr>
        <p:txBody>
          <a:bodyPr wrap="square" lIns="0" rIns="0" tIns="0" bIns="0">
            <a:spAutoFit/>
          </a:bodyPr>
          <a:lstStyle/>
          <a:p>
            <a:pPr algn="l"/>
            <a:r>
              <a:rPr sz="8400" b="1" i="0">
                <a:solidFill>
                  <a:srgbClr val="B30022"/>
                </a:solidFill>
                <a:latin typeface="Caveat"/>
              </a:rPr>
              <a:t>you're</a:t>
            </a:r>
          </a:p>
          <a:p>
            <a:r>
              <a:t>not</a:t>
            </a:r>
          </a:p>
          <a:p>
            <a:r>
              <a:t>alone.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DE7DF"/>
        </a:solidFill>
        <a:effectLst/>
      </p:bgPr>
    </p:bg>
    <p:spTree>
      <p:nvGrpSpPr>
        <p:cNvPr id="1" name=""/>
        <p:cNvGrpSpPr/>
        <p:nvPr/>
      </p:nvGrpSpPr>
      <p:grpSpPr/>
      <p:sp>
        <p:nvSpPr>
          <p:cNvPr id="2" name="TextBox 1"/>
          <p:cNvSpPr txBox="1"/>
          <p:nvPr/>
        </p:nvSpPr>
        <p:spPr>
          <a:xfrm>
            <a:off x="822960" y="640080"/>
            <a:ext cx="9144000" cy="731520"/>
          </a:xfrm>
          <a:prstGeom prst="rect">
            <a:avLst/>
          </a:prstGeom>
          <a:noFill/>
        </p:spPr>
        <p:txBody>
          <a:bodyPr wrap="square" lIns="0" rIns="0" tIns="0" bIns="0">
            <a:spAutoFit/>
          </a:bodyPr>
          <a:lstStyle/>
          <a:p>
            <a:pPr algn="l"/>
            <a:r>
              <a:rPr sz="3400" b="1" i="0">
                <a:solidFill>
                  <a:srgbClr val="9E3E58"/>
                </a:solidFill>
                <a:latin typeface="Caveat"/>
              </a:rPr>
              <a:t>Three at a glance.</a:t>
            </a:r>
          </a:p>
        </p:txBody>
      </p:sp>
      <p:sp>
        <p:nvSpPr>
          <p:cNvPr id="3" name="TextBox 2"/>
          <p:cNvSpPr txBox="1"/>
          <p:nvPr/>
        </p:nvSpPr>
        <p:spPr>
          <a:xfrm>
            <a:off x="822960" y="1280160"/>
            <a:ext cx="10058400" cy="1280160"/>
          </a:xfrm>
          <a:prstGeom prst="rect">
            <a:avLst/>
          </a:prstGeom>
          <a:noFill/>
        </p:spPr>
        <p:txBody>
          <a:bodyPr wrap="square" lIns="0" rIns="0" tIns="0" bIns="0">
            <a:spAutoFit/>
          </a:bodyPr>
          <a:lstStyle/>
          <a:p>
            <a:pPr algn="l"/>
            <a:r>
              <a:rPr sz="5600" b="1" i="0" spc="-150">
                <a:solidFill>
                  <a:srgbClr val="18171F"/>
                </a:solidFill>
                <a:latin typeface="Space Grotesk"/>
              </a:rPr>
              <a:t>THE WORDS.</a:t>
            </a:r>
          </a:p>
        </p:txBody>
      </p:sp>
      <p:sp>
        <p:nvSpPr>
          <p:cNvPr id="4" name="Rectangle 3"/>
          <p:cNvSpPr/>
          <p:nvPr/>
        </p:nvSpPr>
        <p:spPr>
          <a:xfrm rot="21510000">
            <a:off x="700887" y="2926080"/>
            <a:ext cx="3383280" cy="3291840"/>
          </a:xfrm>
          <a:prstGeom prst="rect">
            <a:avLst/>
          </a:prstGeom>
          <a:solidFill>
            <a:srgbClr val="FFFFFF"/>
          </a:solidFill>
          <a:ln w="6350">
            <a:solidFill>
              <a:srgbClr val="E0DA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rot="21510000">
            <a:off x="1020927" y="3063240"/>
            <a:ext cx="2011680" cy="1463040"/>
          </a:xfrm>
          <a:prstGeom prst="rect">
            <a:avLst/>
          </a:prstGeom>
          <a:noFill/>
        </p:spPr>
        <p:txBody>
          <a:bodyPr wrap="square" lIns="0" rIns="0" tIns="0" bIns="0">
            <a:spAutoFit/>
          </a:bodyPr>
          <a:lstStyle/>
          <a:p>
            <a:pPr algn="l"/>
            <a:r>
              <a:rPr sz="8000" b="1" i="0">
                <a:solidFill>
                  <a:srgbClr val="E2CACE"/>
                </a:solidFill>
                <a:latin typeface="Space Grotesk"/>
              </a:rPr>
              <a:t>01</a:t>
            </a:r>
          </a:p>
        </p:txBody>
      </p:sp>
      <p:sp>
        <p:nvSpPr>
          <p:cNvPr id="6" name="Rectangle 5"/>
          <p:cNvSpPr/>
          <p:nvPr/>
        </p:nvSpPr>
        <p:spPr>
          <a:xfrm rot="21510000">
            <a:off x="1020927" y="4297680"/>
            <a:ext cx="960120" cy="292608"/>
          </a:xfrm>
          <a:prstGeom prst="rect">
            <a:avLst/>
          </a:prstGeom>
          <a:solidFill>
            <a:srgbClr val="9E3E5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18288" bIns="18288"/>
          <a:lstStyle/>
          <a:p>
            <a:pPr algn="ctr"/>
            <a:r>
              <a:rPr sz="800" b="1" spc="300">
                <a:solidFill>
                  <a:srgbClr val="E5E6E0"/>
                </a:solidFill>
                <a:latin typeface="Space Grotesk"/>
              </a:rPr>
              <a:t>TERM</a:t>
            </a:r>
          </a:p>
        </p:txBody>
      </p:sp>
      <p:sp>
        <p:nvSpPr>
          <p:cNvPr id="7" name="TextBox 6"/>
          <p:cNvSpPr txBox="1"/>
          <p:nvPr/>
        </p:nvSpPr>
        <p:spPr>
          <a:xfrm rot="21510000">
            <a:off x="1020927" y="4709160"/>
            <a:ext cx="2743200" cy="548640"/>
          </a:xfrm>
          <a:prstGeom prst="rect">
            <a:avLst/>
          </a:prstGeom>
          <a:noFill/>
        </p:spPr>
        <p:txBody>
          <a:bodyPr wrap="square" lIns="0" rIns="0" tIns="0" bIns="0">
            <a:spAutoFit/>
          </a:bodyPr>
          <a:lstStyle/>
          <a:p>
            <a:pPr algn="l"/>
            <a:r>
              <a:rPr sz="2200" b="1" i="0">
                <a:solidFill>
                  <a:srgbClr val="18171F"/>
                </a:solidFill>
                <a:latin typeface="Space Grotesk"/>
              </a:rPr>
              <a:t>AI vs LLM</a:t>
            </a:r>
          </a:p>
        </p:txBody>
      </p:sp>
      <p:sp>
        <p:nvSpPr>
          <p:cNvPr id="8" name="TextBox 7"/>
          <p:cNvSpPr txBox="1"/>
          <p:nvPr/>
        </p:nvSpPr>
        <p:spPr>
          <a:xfrm rot="21510000">
            <a:off x="1020927" y="5257800"/>
            <a:ext cx="2743200" cy="914400"/>
          </a:xfrm>
          <a:prstGeom prst="rect">
            <a:avLst/>
          </a:prstGeom>
          <a:noFill/>
        </p:spPr>
        <p:txBody>
          <a:bodyPr wrap="square" lIns="0" rIns="0" tIns="0" bIns="0">
            <a:spAutoFit/>
          </a:bodyPr>
          <a:lstStyle/>
          <a:p>
            <a:pPr algn="l"/>
            <a:r>
              <a:rPr sz="1300" b="0" i="0">
                <a:solidFill>
                  <a:srgbClr val="3D3B47"/>
                </a:solidFill>
                <a:latin typeface="Outfit"/>
              </a:rPr>
              <a:t>AI is the field. An LLM is the text-trained model we actually use.</a:t>
            </a:r>
          </a:p>
        </p:txBody>
      </p:sp>
      <p:sp>
        <p:nvSpPr>
          <p:cNvPr id="9" name="Rectangle 8"/>
          <p:cNvSpPr/>
          <p:nvPr/>
        </p:nvSpPr>
        <p:spPr>
          <a:xfrm rot="90000">
            <a:off x="4404207" y="2926080"/>
            <a:ext cx="3383280" cy="3291840"/>
          </a:xfrm>
          <a:prstGeom prst="rect">
            <a:avLst/>
          </a:prstGeom>
          <a:solidFill>
            <a:srgbClr val="FFFFFF"/>
          </a:solidFill>
          <a:ln w="6350">
            <a:solidFill>
              <a:srgbClr val="E0DA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rot="90000">
            <a:off x="4724247" y="3063240"/>
            <a:ext cx="2011680" cy="1463040"/>
          </a:xfrm>
          <a:prstGeom prst="rect">
            <a:avLst/>
          </a:prstGeom>
          <a:noFill/>
        </p:spPr>
        <p:txBody>
          <a:bodyPr wrap="square" lIns="0" rIns="0" tIns="0" bIns="0">
            <a:spAutoFit/>
          </a:bodyPr>
          <a:lstStyle/>
          <a:p>
            <a:pPr algn="l"/>
            <a:r>
              <a:rPr sz="8000" b="1" i="0">
                <a:solidFill>
                  <a:srgbClr val="E2CACE"/>
                </a:solidFill>
                <a:latin typeface="Space Grotesk"/>
              </a:rPr>
              <a:t>02</a:t>
            </a:r>
          </a:p>
        </p:txBody>
      </p:sp>
      <p:sp>
        <p:nvSpPr>
          <p:cNvPr id="11" name="Rectangle 10"/>
          <p:cNvSpPr/>
          <p:nvPr/>
        </p:nvSpPr>
        <p:spPr>
          <a:xfrm rot="90000">
            <a:off x="4724247" y="4297680"/>
            <a:ext cx="960120" cy="292608"/>
          </a:xfrm>
          <a:prstGeom prst="rect">
            <a:avLst/>
          </a:prstGeom>
          <a:solidFill>
            <a:srgbClr val="9E3E5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18288" bIns="18288"/>
          <a:lstStyle/>
          <a:p>
            <a:pPr algn="ctr"/>
            <a:r>
              <a:rPr sz="800" b="1" spc="300">
                <a:solidFill>
                  <a:srgbClr val="E5E6E0"/>
                </a:solidFill>
                <a:latin typeface="Space Grotesk"/>
              </a:rPr>
              <a:t>TERM</a:t>
            </a:r>
          </a:p>
        </p:txBody>
      </p:sp>
      <p:sp>
        <p:nvSpPr>
          <p:cNvPr id="12" name="TextBox 11"/>
          <p:cNvSpPr txBox="1"/>
          <p:nvPr/>
        </p:nvSpPr>
        <p:spPr>
          <a:xfrm rot="90000">
            <a:off x="4724247" y="4709160"/>
            <a:ext cx="2743200" cy="548640"/>
          </a:xfrm>
          <a:prstGeom prst="rect">
            <a:avLst/>
          </a:prstGeom>
          <a:noFill/>
        </p:spPr>
        <p:txBody>
          <a:bodyPr wrap="square" lIns="0" rIns="0" tIns="0" bIns="0">
            <a:spAutoFit/>
          </a:bodyPr>
          <a:lstStyle/>
          <a:p>
            <a:pPr algn="l"/>
            <a:r>
              <a:rPr sz="2200" b="1" i="0">
                <a:solidFill>
                  <a:srgbClr val="18171F"/>
                </a:solidFill>
                <a:latin typeface="Space Grotesk"/>
              </a:rPr>
              <a:t>Chatbot vs Agent</a:t>
            </a:r>
          </a:p>
        </p:txBody>
      </p:sp>
      <p:sp>
        <p:nvSpPr>
          <p:cNvPr id="13" name="TextBox 12"/>
          <p:cNvSpPr txBox="1"/>
          <p:nvPr/>
        </p:nvSpPr>
        <p:spPr>
          <a:xfrm rot="90000">
            <a:off x="4724247" y="5257800"/>
            <a:ext cx="2743200" cy="914400"/>
          </a:xfrm>
          <a:prstGeom prst="rect">
            <a:avLst/>
          </a:prstGeom>
          <a:noFill/>
        </p:spPr>
        <p:txBody>
          <a:bodyPr wrap="square" lIns="0" rIns="0" tIns="0" bIns="0">
            <a:spAutoFit/>
          </a:bodyPr>
          <a:lstStyle/>
          <a:p>
            <a:pPr algn="l"/>
            <a:r>
              <a:rPr sz="1300" b="0" i="0">
                <a:solidFill>
                  <a:srgbClr val="3D3B47"/>
                </a:solidFill>
                <a:latin typeface="Outfit"/>
              </a:rPr>
              <a:t>A chatbot replies. An agent takes steps and uses tools for you.</a:t>
            </a:r>
          </a:p>
        </p:txBody>
      </p:sp>
      <p:sp>
        <p:nvSpPr>
          <p:cNvPr id="14" name="Rectangle 13"/>
          <p:cNvSpPr/>
          <p:nvPr/>
        </p:nvSpPr>
        <p:spPr>
          <a:xfrm rot="21540000">
            <a:off x="8107527" y="2926080"/>
            <a:ext cx="3383280" cy="3291840"/>
          </a:xfrm>
          <a:prstGeom prst="rect">
            <a:avLst/>
          </a:prstGeom>
          <a:solidFill>
            <a:srgbClr val="FFFFFF"/>
          </a:solidFill>
          <a:ln w="6350">
            <a:solidFill>
              <a:srgbClr val="E0DA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rot="21540000">
            <a:off x="8427567" y="3063240"/>
            <a:ext cx="2011680" cy="1463040"/>
          </a:xfrm>
          <a:prstGeom prst="rect">
            <a:avLst/>
          </a:prstGeom>
          <a:noFill/>
        </p:spPr>
        <p:txBody>
          <a:bodyPr wrap="square" lIns="0" rIns="0" tIns="0" bIns="0">
            <a:spAutoFit/>
          </a:bodyPr>
          <a:lstStyle/>
          <a:p>
            <a:pPr algn="l"/>
            <a:r>
              <a:rPr sz="8000" b="1" i="0">
                <a:solidFill>
                  <a:srgbClr val="E2CACE"/>
                </a:solidFill>
                <a:latin typeface="Space Grotesk"/>
              </a:rPr>
              <a:t>03</a:t>
            </a:r>
          </a:p>
        </p:txBody>
      </p:sp>
      <p:sp>
        <p:nvSpPr>
          <p:cNvPr id="16" name="Rectangle 15"/>
          <p:cNvSpPr/>
          <p:nvPr/>
        </p:nvSpPr>
        <p:spPr>
          <a:xfrm rot="21540000">
            <a:off x="8427567" y="4297680"/>
            <a:ext cx="960120" cy="292608"/>
          </a:xfrm>
          <a:prstGeom prst="rect">
            <a:avLst/>
          </a:prstGeom>
          <a:solidFill>
            <a:srgbClr val="9E3E5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18288" bIns="18288"/>
          <a:lstStyle/>
          <a:p>
            <a:pPr algn="ctr"/>
            <a:r>
              <a:rPr sz="800" b="1" spc="300">
                <a:solidFill>
                  <a:srgbClr val="E5E6E0"/>
                </a:solidFill>
                <a:latin typeface="Space Grotesk"/>
              </a:rPr>
              <a:t>TERM</a:t>
            </a:r>
          </a:p>
        </p:txBody>
      </p:sp>
      <p:sp>
        <p:nvSpPr>
          <p:cNvPr id="17" name="TextBox 16"/>
          <p:cNvSpPr txBox="1"/>
          <p:nvPr/>
        </p:nvSpPr>
        <p:spPr>
          <a:xfrm rot="21540000">
            <a:off x="8427567" y="4709160"/>
            <a:ext cx="2743200" cy="548640"/>
          </a:xfrm>
          <a:prstGeom prst="rect">
            <a:avLst/>
          </a:prstGeom>
          <a:noFill/>
        </p:spPr>
        <p:txBody>
          <a:bodyPr wrap="square" lIns="0" rIns="0" tIns="0" bIns="0">
            <a:spAutoFit/>
          </a:bodyPr>
          <a:lstStyle/>
          <a:p>
            <a:pPr algn="l"/>
            <a:r>
              <a:rPr sz="2200" b="1" i="0">
                <a:solidFill>
                  <a:srgbClr val="18171F"/>
                </a:solidFill>
                <a:latin typeface="Space Grotesk"/>
              </a:rPr>
              <a:t>The Workspace</a:t>
            </a:r>
          </a:p>
        </p:txBody>
      </p:sp>
      <p:sp>
        <p:nvSpPr>
          <p:cNvPr id="18" name="TextBox 17"/>
          <p:cNvSpPr txBox="1"/>
          <p:nvPr/>
        </p:nvSpPr>
        <p:spPr>
          <a:xfrm rot="21540000">
            <a:off x="8427567" y="5257800"/>
            <a:ext cx="2743200" cy="914400"/>
          </a:xfrm>
          <a:prstGeom prst="rect">
            <a:avLst/>
          </a:prstGeom>
          <a:noFill/>
        </p:spPr>
        <p:txBody>
          <a:bodyPr wrap="square" lIns="0" rIns="0" tIns="0" bIns="0">
            <a:spAutoFit/>
          </a:bodyPr>
          <a:lstStyle/>
          <a:p>
            <a:pPr algn="l"/>
            <a:r>
              <a:rPr sz="1300" b="0" i="0">
                <a:solidFill>
                  <a:srgbClr val="3D3B47"/>
                </a:solidFill>
                <a:latin typeface="Outfit"/>
              </a:rPr>
              <a:t>A prompt is what you ask. A workspace is your context and skills, saved and reused.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5E6E0"/>
        </a:solidFill>
        <a:effectLst/>
      </p:bgPr>
    </p:bg>
    <p:spTree>
      <p:nvGrpSpPr>
        <p:cNvPr id="1" name=""/>
        <p:cNvGrpSpPr/>
        <p:nvPr/>
      </p:nvGrpSpPr>
      <p:grpSpPr/>
      <p:sp>
        <p:nvSpPr>
          <p:cNvPr id="2" name="TextBox 1"/>
          <p:cNvSpPr txBox="1"/>
          <p:nvPr/>
        </p:nvSpPr>
        <p:spPr>
          <a:xfrm>
            <a:off x="822960" y="1280160"/>
            <a:ext cx="1828800" cy="2286000"/>
          </a:xfrm>
          <a:prstGeom prst="rect">
            <a:avLst/>
          </a:prstGeom>
          <a:noFill/>
        </p:spPr>
        <p:txBody>
          <a:bodyPr wrap="square" lIns="0" rIns="0" tIns="0" bIns="0">
            <a:spAutoFit/>
          </a:bodyPr>
          <a:lstStyle/>
          <a:p>
            <a:pPr algn="l"/>
            <a:r>
              <a:rPr sz="20000" b="1" i="0">
                <a:solidFill>
                  <a:srgbClr val="B30022"/>
                </a:solidFill>
                <a:latin typeface="Caveat"/>
              </a:rPr>
              <a:t>“</a:t>
            </a:r>
          </a:p>
        </p:txBody>
      </p:sp>
      <p:sp>
        <p:nvSpPr>
          <p:cNvPr id="3" name="TextBox 2"/>
          <p:cNvSpPr txBox="1"/>
          <p:nvPr/>
        </p:nvSpPr>
        <p:spPr>
          <a:xfrm>
            <a:off x="2377440" y="1645920"/>
            <a:ext cx="9418320" cy="3840480"/>
          </a:xfrm>
          <a:prstGeom prst="rect">
            <a:avLst/>
          </a:prstGeom>
          <a:noFill/>
        </p:spPr>
        <p:txBody>
          <a:bodyPr wrap="square" lIns="0" rIns="0" tIns="0" bIns="0">
            <a:spAutoFit/>
          </a:bodyPr>
          <a:lstStyle/>
          <a:p>
            <a:pPr algn="l"/>
            <a:r>
              <a:rPr sz="5200" b="1" i="0">
                <a:solidFill>
                  <a:srgbClr val="9E3E58"/>
                </a:solidFill>
                <a:latin typeface="Caveat"/>
              </a:rPr>
              <a:t>The fix was not a smarter prompt.</a:t>
            </a:r>
          </a:p>
          <a:p>
            <a:r>
              <a:t>It was context</a:t>
            </a:r>
          </a:p>
          <a:p>
            <a:r>
              <a:t>the AI already had.</a:t>
            </a:r>
          </a:p>
        </p:txBody>
      </p:sp>
      <p:sp>
        <p:nvSpPr>
          <p:cNvPr id="4" name="TextBox 3"/>
          <p:cNvSpPr txBox="1"/>
          <p:nvPr/>
        </p:nvSpPr>
        <p:spPr>
          <a:xfrm>
            <a:off x="2377440" y="5852160"/>
            <a:ext cx="9144000" cy="457200"/>
          </a:xfrm>
          <a:prstGeom prst="rect">
            <a:avLst/>
          </a:prstGeom>
          <a:noFill/>
        </p:spPr>
        <p:txBody>
          <a:bodyPr wrap="square" lIns="0" rIns="0" tIns="0" bIns="0">
            <a:spAutoFit/>
          </a:bodyPr>
          <a:lstStyle/>
          <a:p>
            <a:pPr algn="l"/>
            <a:r>
              <a:rPr sz="1200" b="1" i="0" spc="400">
                <a:solidFill>
                  <a:srgbClr val="18171F"/>
                </a:solidFill>
                <a:latin typeface="Space Grotesk"/>
              </a:rPr>
              <a:t>— ASHLEY SCRUSE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5E6E0"/>
        </a:solidFill>
        <a:effectLst/>
      </p:bgPr>
    </p:bg>
    <p:spTree>
      <p:nvGrpSpPr>
        <p:cNvPr id="1" name=""/>
        <p:cNvGrpSpPr/>
        <p:nvPr/>
      </p:nvGrpSpPr>
      <p:grpSpPr/>
      <p:sp>
        <p:nvSpPr>
          <p:cNvPr id="2" name="Rectangle 1"/>
          <p:cNvSpPr/>
          <p:nvPr/>
        </p:nvSpPr>
        <p:spPr>
          <a:xfrm rot="21480000">
            <a:off x="822960" y="914400"/>
            <a:ext cx="2194560" cy="384048"/>
          </a:xfrm>
          <a:prstGeom prst="rect">
            <a:avLst/>
          </a:prstGeom>
          <a:noFill/>
          <a:ln w="19050">
            <a:solidFill>
              <a:srgbClr val="9E3E58"/>
            </a:solidFill>
          </a:ln>
        </p:spPr>
        <p:style>
          <a:lnRef idx="1">
            <a:schemeClr val="accent1"/>
          </a:lnRef>
          <a:fillRef idx="3">
            <a:schemeClr val="accent1"/>
          </a:fillRef>
          <a:effectRef idx="2">
            <a:schemeClr val="accent1"/>
          </a:effectRef>
          <a:fontRef idx="minor">
            <a:schemeClr val="lt1"/>
          </a:fontRef>
        </p:style>
        <p:txBody>
          <a:bodyPr rtlCol="0" anchor="ctr" lIns="109728" rIns="109728" tIns="36576" bIns="36576"/>
          <a:lstStyle/>
          <a:p>
            <a:pPr algn="ctr"/>
            <a:r>
              <a:rPr sz="1000" b="1" spc="200">
                <a:solidFill>
                  <a:srgbClr val="9E3E58"/>
                </a:solidFill>
                <a:latin typeface="Space Grotesk"/>
              </a:rPr>
              <a:t>THE PAYOFF</a:t>
            </a:r>
          </a:p>
        </p:txBody>
      </p:sp>
      <p:sp>
        <p:nvSpPr>
          <p:cNvPr id="3" name="TextBox 2"/>
          <p:cNvSpPr txBox="1"/>
          <p:nvPr/>
        </p:nvSpPr>
        <p:spPr>
          <a:xfrm>
            <a:off x="822960" y="1554480"/>
            <a:ext cx="5943600" cy="822960"/>
          </a:xfrm>
          <a:prstGeom prst="rect">
            <a:avLst/>
          </a:prstGeom>
          <a:noFill/>
        </p:spPr>
        <p:txBody>
          <a:bodyPr wrap="square" lIns="0" rIns="0" tIns="0" bIns="0">
            <a:spAutoFit/>
          </a:bodyPr>
          <a:lstStyle/>
          <a:p>
            <a:pPr algn="l"/>
            <a:r>
              <a:rPr sz="3800" b="1" i="0">
                <a:solidFill>
                  <a:srgbClr val="9E3E58"/>
                </a:solidFill>
                <a:latin typeface="Caveat"/>
              </a:rPr>
              <a:t>Fill it once.</a:t>
            </a:r>
          </a:p>
        </p:txBody>
      </p:sp>
      <p:sp>
        <p:nvSpPr>
          <p:cNvPr id="4" name="TextBox 3"/>
          <p:cNvSpPr txBox="1"/>
          <p:nvPr/>
        </p:nvSpPr>
        <p:spPr>
          <a:xfrm>
            <a:off x="822960" y="2286000"/>
            <a:ext cx="5943600" cy="1097280"/>
          </a:xfrm>
          <a:prstGeom prst="rect">
            <a:avLst/>
          </a:prstGeom>
          <a:noFill/>
        </p:spPr>
        <p:txBody>
          <a:bodyPr wrap="square" lIns="0" rIns="0" tIns="0" bIns="0">
            <a:spAutoFit/>
          </a:bodyPr>
          <a:lstStyle/>
          <a:p>
            <a:pPr algn="l"/>
            <a:r>
              <a:rPr sz="5400" b="1" i="0" spc="-150">
                <a:solidFill>
                  <a:srgbClr val="18171F"/>
                </a:solidFill>
                <a:latin typeface="Space Grotesk"/>
              </a:rPr>
              <a:t>EVERY GRANT.</a:t>
            </a:r>
          </a:p>
        </p:txBody>
      </p:sp>
      <p:sp>
        <p:nvSpPr>
          <p:cNvPr id="5" name="TextBox 4"/>
          <p:cNvSpPr txBox="1"/>
          <p:nvPr/>
        </p:nvSpPr>
        <p:spPr>
          <a:xfrm>
            <a:off x="822960" y="3566160"/>
            <a:ext cx="5943600" cy="2286000"/>
          </a:xfrm>
          <a:prstGeom prst="rect">
            <a:avLst/>
          </a:prstGeom>
          <a:noFill/>
        </p:spPr>
        <p:txBody>
          <a:bodyPr wrap="square" lIns="0" rIns="0" tIns="0" bIns="0">
            <a:spAutoFit/>
          </a:bodyPr>
          <a:lstStyle/>
          <a:p>
            <a:pPr algn="l"/>
            <a:r>
              <a:rPr sz="1700" b="0" i="0">
                <a:solidFill>
                  <a:srgbClr val="3D3B47"/>
                </a:solidFill>
                <a:latin typeface="Outfit"/>
              </a:rPr>
              <a:t>You set up your context one time. From then on every evaluation and every draft reads from it, so you never start from zero again.</a:t>
            </a:r>
          </a:p>
        </p:txBody>
      </p:sp>
      <p:sp>
        <p:nvSpPr>
          <p:cNvPr id="6" name="TextBox 5"/>
          <p:cNvSpPr txBox="1"/>
          <p:nvPr/>
        </p:nvSpPr>
        <p:spPr>
          <a:xfrm>
            <a:off x="7132320" y="822960"/>
            <a:ext cx="4937760" cy="5669280"/>
          </a:xfrm>
          <a:prstGeom prst="rect">
            <a:avLst/>
          </a:prstGeom>
          <a:noFill/>
        </p:spPr>
        <p:txBody>
          <a:bodyPr wrap="none" lIns="0" rIns="0" tIns="0" bIns="0">
            <a:spAutoFit/>
          </a:bodyPr>
          <a:lstStyle/>
          <a:p>
            <a:pPr algn="ctr"/>
            <a:r>
              <a:rPr sz="28000" b="1" i="0" spc="-200">
                <a:solidFill>
                  <a:srgbClr val="B30022"/>
                </a:solidFill>
                <a:latin typeface="Space Grotesk"/>
              </a:rPr>
              <a:t>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DE7DF"/>
        </a:solidFill>
        <a:effectLst/>
      </p:bgPr>
    </p:bg>
    <p:spTree>
      <p:nvGrpSpPr>
        <p:cNvPr id="1" name=""/>
        <p:cNvGrpSpPr/>
        <p:nvPr/>
      </p:nvGrpSpPr>
      <p:grpSpPr/>
      <p:sp>
        <p:nvSpPr>
          <p:cNvPr id="2" name="TextBox 1"/>
          <p:cNvSpPr txBox="1"/>
          <p:nvPr/>
        </p:nvSpPr>
        <p:spPr>
          <a:xfrm>
            <a:off x="822960" y="640080"/>
            <a:ext cx="9144000" cy="731520"/>
          </a:xfrm>
          <a:prstGeom prst="rect">
            <a:avLst/>
          </a:prstGeom>
          <a:noFill/>
        </p:spPr>
        <p:txBody>
          <a:bodyPr wrap="square" lIns="0" rIns="0" tIns="0" bIns="0">
            <a:spAutoFit/>
          </a:bodyPr>
          <a:lstStyle/>
          <a:p>
            <a:pPr algn="l"/>
            <a:r>
              <a:rPr sz="3400" b="1" i="0">
                <a:solidFill>
                  <a:srgbClr val="9E3E58"/>
                </a:solidFill>
                <a:latin typeface="Caveat"/>
              </a:rPr>
              <a:t>Good habits.</a:t>
            </a:r>
          </a:p>
        </p:txBody>
      </p:sp>
      <p:sp>
        <p:nvSpPr>
          <p:cNvPr id="3" name="TextBox 2"/>
          <p:cNvSpPr txBox="1"/>
          <p:nvPr/>
        </p:nvSpPr>
        <p:spPr>
          <a:xfrm>
            <a:off x="822960" y="1280160"/>
            <a:ext cx="10058400" cy="1280160"/>
          </a:xfrm>
          <a:prstGeom prst="rect">
            <a:avLst/>
          </a:prstGeom>
          <a:noFill/>
        </p:spPr>
        <p:txBody>
          <a:bodyPr wrap="square" lIns="0" rIns="0" tIns="0" bIns="0">
            <a:spAutoFit/>
          </a:bodyPr>
          <a:lstStyle/>
          <a:p>
            <a:pPr algn="l"/>
            <a:r>
              <a:rPr sz="5600" b="1" i="0" spc="-150">
                <a:solidFill>
                  <a:srgbClr val="18171F"/>
                </a:solidFill>
                <a:latin typeface="Space Grotesk"/>
              </a:rPr>
              <a:t>DO THIS, NOT THAT.</a:t>
            </a:r>
          </a:p>
        </p:txBody>
      </p:sp>
      <p:sp>
        <p:nvSpPr>
          <p:cNvPr id="4" name="TextBox 3"/>
          <p:cNvSpPr txBox="1"/>
          <p:nvPr/>
        </p:nvSpPr>
        <p:spPr>
          <a:xfrm>
            <a:off x="822960" y="3108960"/>
            <a:ext cx="5029200" cy="548640"/>
          </a:xfrm>
          <a:prstGeom prst="rect">
            <a:avLst/>
          </a:prstGeom>
          <a:noFill/>
        </p:spPr>
        <p:txBody>
          <a:bodyPr wrap="square" lIns="0" rIns="0" tIns="0" bIns="0">
            <a:spAutoFit/>
          </a:bodyPr>
          <a:lstStyle/>
          <a:p>
            <a:pPr algn="l"/>
            <a:r>
              <a:rPr sz="2800" b="1" i="0">
                <a:solidFill>
                  <a:srgbClr val="9E3E58"/>
                </a:solidFill>
                <a:latin typeface="Caveat"/>
              </a:rPr>
              <a:t>Do this</a:t>
            </a:r>
          </a:p>
        </p:txBody>
      </p:sp>
      <p:sp>
        <p:nvSpPr>
          <p:cNvPr id="5" name="TextBox 4"/>
          <p:cNvSpPr txBox="1"/>
          <p:nvPr/>
        </p:nvSpPr>
        <p:spPr>
          <a:xfrm>
            <a:off x="822960" y="3703320"/>
            <a:ext cx="5029200" cy="457200"/>
          </a:xfrm>
          <a:prstGeom prst="rect">
            <a:avLst/>
          </a:prstGeom>
          <a:noFill/>
        </p:spPr>
        <p:txBody>
          <a:bodyPr wrap="square" lIns="0" rIns="0" tIns="0" bIns="0">
            <a:spAutoFit/>
          </a:bodyPr>
          <a:lstStyle/>
          <a:p>
            <a:pPr algn="l"/>
            <a:r>
              <a:rPr sz="1500" b="0" i="0">
                <a:solidFill>
                  <a:srgbClr val="18171F"/>
                </a:solidFill>
                <a:latin typeface="Outfit"/>
              </a:rPr>
              <a:t>→  Give it your context first.</a:t>
            </a:r>
          </a:p>
        </p:txBody>
      </p:sp>
      <p:sp>
        <p:nvSpPr>
          <p:cNvPr id="6" name="TextBox 5"/>
          <p:cNvSpPr txBox="1"/>
          <p:nvPr/>
        </p:nvSpPr>
        <p:spPr>
          <a:xfrm>
            <a:off x="822960" y="4206240"/>
            <a:ext cx="5029200" cy="457200"/>
          </a:xfrm>
          <a:prstGeom prst="rect">
            <a:avLst/>
          </a:prstGeom>
          <a:noFill/>
        </p:spPr>
        <p:txBody>
          <a:bodyPr wrap="square" lIns="0" rIns="0" tIns="0" bIns="0">
            <a:spAutoFit/>
          </a:bodyPr>
          <a:lstStyle/>
          <a:p>
            <a:pPr algn="l"/>
            <a:r>
              <a:rPr sz="1500" b="0" i="0">
                <a:solidFill>
                  <a:srgbClr val="18171F"/>
                </a:solidFill>
                <a:latin typeface="Outfit"/>
              </a:rPr>
              <a:t>→  Be specific about the goal.</a:t>
            </a:r>
          </a:p>
        </p:txBody>
      </p:sp>
      <p:sp>
        <p:nvSpPr>
          <p:cNvPr id="7" name="TextBox 6"/>
          <p:cNvSpPr txBox="1"/>
          <p:nvPr/>
        </p:nvSpPr>
        <p:spPr>
          <a:xfrm>
            <a:off x="822960" y="4709160"/>
            <a:ext cx="5029200" cy="457200"/>
          </a:xfrm>
          <a:prstGeom prst="rect">
            <a:avLst/>
          </a:prstGeom>
          <a:noFill/>
        </p:spPr>
        <p:txBody>
          <a:bodyPr wrap="square" lIns="0" rIns="0" tIns="0" bIns="0">
            <a:spAutoFit/>
          </a:bodyPr>
          <a:lstStyle/>
          <a:p>
            <a:pPr algn="l"/>
            <a:r>
              <a:rPr sz="1500" b="0" i="0">
                <a:solidFill>
                  <a:srgbClr val="18171F"/>
                </a:solidFill>
                <a:latin typeface="Outfit"/>
              </a:rPr>
              <a:t>→  Ground every claim in a source.</a:t>
            </a:r>
          </a:p>
        </p:txBody>
      </p:sp>
      <p:sp>
        <p:nvSpPr>
          <p:cNvPr id="8" name="TextBox 7"/>
          <p:cNvSpPr txBox="1"/>
          <p:nvPr/>
        </p:nvSpPr>
        <p:spPr>
          <a:xfrm>
            <a:off x="822960" y="5212080"/>
            <a:ext cx="5029200" cy="457200"/>
          </a:xfrm>
          <a:prstGeom prst="rect">
            <a:avLst/>
          </a:prstGeom>
          <a:noFill/>
        </p:spPr>
        <p:txBody>
          <a:bodyPr wrap="square" lIns="0" rIns="0" tIns="0" bIns="0">
            <a:spAutoFit/>
          </a:bodyPr>
          <a:lstStyle/>
          <a:p>
            <a:pPr algn="l"/>
            <a:r>
              <a:rPr sz="1500" b="0" i="0">
                <a:solidFill>
                  <a:srgbClr val="18171F"/>
                </a:solidFill>
                <a:latin typeface="Outfit"/>
              </a:rPr>
              <a:t>→  Verify before it goes out.</a:t>
            </a:r>
          </a:p>
        </p:txBody>
      </p:sp>
      <p:sp>
        <p:nvSpPr>
          <p:cNvPr id="9" name="TextBox 8"/>
          <p:cNvSpPr txBox="1"/>
          <p:nvPr/>
        </p:nvSpPr>
        <p:spPr>
          <a:xfrm>
            <a:off x="6400800" y="3108960"/>
            <a:ext cx="5029200" cy="548640"/>
          </a:xfrm>
          <a:prstGeom prst="rect">
            <a:avLst/>
          </a:prstGeom>
          <a:noFill/>
        </p:spPr>
        <p:txBody>
          <a:bodyPr wrap="square" lIns="0" rIns="0" tIns="0" bIns="0">
            <a:spAutoFit/>
          </a:bodyPr>
          <a:lstStyle/>
          <a:p>
            <a:pPr algn="l"/>
            <a:r>
              <a:rPr sz="2800" b="1" i="0">
                <a:solidFill>
                  <a:srgbClr val="9E3E58"/>
                </a:solidFill>
                <a:latin typeface="Caveat"/>
              </a:rPr>
              <a:t>Not this</a:t>
            </a:r>
          </a:p>
        </p:txBody>
      </p:sp>
      <p:sp>
        <p:nvSpPr>
          <p:cNvPr id="10" name="TextBox 9"/>
          <p:cNvSpPr txBox="1"/>
          <p:nvPr/>
        </p:nvSpPr>
        <p:spPr>
          <a:xfrm>
            <a:off x="6400800" y="3703320"/>
            <a:ext cx="5029200" cy="457200"/>
          </a:xfrm>
          <a:prstGeom prst="rect">
            <a:avLst/>
          </a:prstGeom>
          <a:noFill/>
        </p:spPr>
        <p:txBody>
          <a:bodyPr wrap="square" lIns="0" rIns="0" tIns="0" bIns="0">
            <a:spAutoFit/>
          </a:bodyPr>
          <a:lstStyle/>
          <a:p>
            <a:pPr algn="l"/>
            <a:r>
              <a:rPr sz="1500" b="0" i="0">
                <a:solidFill>
                  <a:srgbClr val="18171F"/>
                </a:solidFill>
                <a:latin typeface="Outfit"/>
              </a:rPr>
              <a:t>×  Paste a cold question.</a:t>
            </a:r>
          </a:p>
        </p:txBody>
      </p:sp>
      <p:sp>
        <p:nvSpPr>
          <p:cNvPr id="11" name="TextBox 10"/>
          <p:cNvSpPr txBox="1"/>
          <p:nvPr/>
        </p:nvSpPr>
        <p:spPr>
          <a:xfrm>
            <a:off x="6400800" y="4206240"/>
            <a:ext cx="5029200" cy="457200"/>
          </a:xfrm>
          <a:prstGeom prst="rect">
            <a:avLst/>
          </a:prstGeom>
          <a:noFill/>
        </p:spPr>
        <p:txBody>
          <a:bodyPr wrap="square" lIns="0" rIns="0" tIns="0" bIns="0">
            <a:spAutoFit/>
          </a:bodyPr>
          <a:lstStyle/>
          <a:p>
            <a:pPr algn="l"/>
            <a:r>
              <a:rPr sz="1500" b="0" i="0">
                <a:solidFill>
                  <a:srgbClr val="18171F"/>
                </a:solidFill>
                <a:latin typeface="Outfit"/>
              </a:rPr>
              <a:t>×  Trust an unverified citation.</a:t>
            </a:r>
          </a:p>
        </p:txBody>
      </p:sp>
      <p:sp>
        <p:nvSpPr>
          <p:cNvPr id="12" name="TextBox 11"/>
          <p:cNvSpPr txBox="1"/>
          <p:nvPr/>
        </p:nvSpPr>
        <p:spPr>
          <a:xfrm>
            <a:off x="6400800" y="4709160"/>
            <a:ext cx="5029200" cy="457200"/>
          </a:xfrm>
          <a:prstGeom prst="rect">
            <a:avLst/>
          </a:prstGeom>
          <a:noFill/>
        </p:spPr>
        <p:txBody>
          <a:bodyPr wrap="square" lIns="0" rIns="0" tIns="0" bIns="0">
            <a:spAutoFit/>
          </a:bodyPr>
          <a:lstStyle/>
          <a:p>
            <a:pPr algn="l"/>
            <a:r>
              <a:rPr sz="1500" b="0" i="0">
                <a:solidFill>
                  <a:srgbClr val="18171F"/>
                </a:solidFill>
                <a:latin typeface="Outfit"/>
              </a:rPr>
              <a:t>×  Let it invent data or numbers.</a:t>
            </a:r>
          </a:p>
        </p:txBody>
      </p:sp>
      <p:sp>
        <p:nvSpPr>
          <p:cNvPr id="13" name="TextBox 12"/>
          <p:cNvSpPr txBox="1"/>
          <p:nvPr/>
        </p:nvSpPr>
        <p:spPr>
          <a:xfrm>
            <a:off x="6400800" y="5212080"/>
            <a:ext cx="5029200" cy="457200"/>
          </a:xfrm>
          <a:prstGeom prst="rect">
            <a:avLst/>
          </a:prstGeom>
          <a:noFill/>
        </p:spPr>
        <p:txBody>
          <a:bodyPr wrap="square" lIns="0" rIns="0" tIns="0" bIns="0">
            <a:spAutoFit/>
          </a:bodyPr>
          <a:lstStyle/>
          <a:p>
            <a:pPr algn="l"/>
            <a:r>
              <a:rPr sz="1500" b="0" i="0">
                <a:solidFill>
                  <a:srgbClr val="18171F"/>
                </a:solidFill>
                <a:latin typeface="Outfit"/>
              </a:rPr>
              <a:t>×  Ship without checking it.</a:t>
            </a:r>
          </a:p>
        </p:txBody>
      </p:sp>
      <p:sp>
        <p:nvSpPr>
          <p:cNvPr id="14" name="Rectangle 13"/>
          <p:cNvSpPr/>
          <p:nvPr/>
        </p:nvSpPr>
        <p:spPr>
          <a:xfrm>
            <a:off x="6035040" y="3200400"/>
            <a:ext cx="12700" cy="2926080"/>
          </a:xfrm>
          <a:prstGeom prst="rect">
            <a:avLst/>
          </a:prstGeom>
          <a:solidFill>
            <a:srgbClr val="C7B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8171F"/>
        </a:solidFill>
        <a:effectLst/>
      </p:bgPr>
    </p:bg>
    <p:spTree>
      <p:nvGrpSpPr>
        <p:cNvPr id="1" name=""/>
        <p:cNvGrpSpPr/>
        <p:nvPr/>
      </p:nvGrpSpPr>
      <p:grpSpPr/>
      <p:sp>
        <p:nvSpPr>
          <p:cNvPr id="2" name="Rectangle 1"/>
          <p:cNvSpPr/>
          <p:nvPr/>
        </p:nvSpPr>
        <p:spPr>
          <a:xfrm rot="21480000">
            <a:off x="822960" y="914400"/>
            <a:ext cx="2194560" cy="384048"/>
          </a:xfrm>
          <a:prstGeom prst="rect">
            <a:avLst/>
          </a:prstGeom>
          <a:noFill/>
          <a:ln w="19050">
            <a:solidFill>
              <a:srgbClr val="9E3E58"/>
            </a:solidFill>
          </a:ln>
        </p:spPr>
        <p:style>
          <a:lnRef idx="1">
            <a:schemeClr val="accent1"/>
          </a:lnRef>
          <a:fillRef idx="3">
            <a:schemeClr val="accent1"/>
          </a:fillRef>
          <a:effectRef idx="2">
            <a:schemeClr val="accent1"/>
          </a:effectRef>
          <a:fontRef idx="minor">
            <a:schemeClr val="lt1"/>
          </a:fontRef>
        </p:style>
        <p:txBody>
          <a:bodyPr rtlCol="0" anchor="ctr" lIns="109728" rIns="109728" tIns="36576" bIns="36576"/>
          <a:lstStyle/>
          <a:p>
            <a:pPr algn="ctr"/>
            <a:r>
              <a:rPr sz="1000" b="1" spc="200">
                <a:solidFill>
                  <a:srgbClr val="9E3E58"/>
                </a:solidFill>
                <a:latin typeface="Space Grotesk"/>
              </a:rPr>
              <a:t>TOKENS &amp; COST</a:t>
            </a:r>
          </a:p>
        </p:txBody>
      </p:sp>
      <p:sp>
        <p:nvSpPr>
          <p:cNvPr id="3" name="TextBox 2"/>
          <p:cNvSpPr txBox="1"/>
          <p:nvPr/>
        </p:nvSpPr>
        <p:spPr>
          <a:xfrm>
            <a:off x="822960" y="1554480"/>
            <a:ext cx="6400800" cy="822960"/>
          </a:xfrm>
          <a:prstGeom prst="rect">
            <a:avLst/>
          </a:prstGeom>
          <a:noFill/>
        </p:spPr>
        <p:txBody>
          <a:bodyPr wrap="square" lIns="0" rIns="0" tIns="0" bIns="0">
            <a:spAutoFit/>
          </a:bodyPr>
          <a:lstStyle/>
          <a:p>
            <a:pPr algn="l"/>
            <a:r>
              <a:rPr sz="3800" b="1" i="0">
                <a:solidFill>
                  <a:srgbClr val="9E3E58"/>
                </a:solidFill>
                <a:latin typeface="Caveat"/>
              </a:rPr>
              <a:t>Say it once.</a:t>
            </a:r>
          </a:p>
        </p:txBody>
      </p:sp>
      <p:sp>
        <p:nvSpPr>
          <p:cNvPr id="4" name="TextBox 3"/>
          <p:cNvSpPr txBox="1"/>
          <p:nvPr/>
        </p:nvSpPr>
        <p:spPr>
          <a:xfrm>
            <a:off x="822960" y="2286000"/>
            <a:ext cx="10058400" cy="2743200"/>
          </a:xfrm>
          <a:prstGeom prst="rect">
            <a:avLst/>
          </a:prstGeom>
          <a:noFill/>
        </p:spPr>
        <p:txBody>
          <a:bodyPr wrap="square" lIns="0" rIns="0" tIns="0" bIns="0">
            <a:spAutoFit/>
          </a:bodyPr>
          <a:lstStyle/>
          <a:p>
            <a:pPr algn="l"/>
            <a:r>
              <a:rPr sz="8800" b="1" i="0" spc="-200">
                <a:solidFill>
                  <a:srgbClr val="E5E6E0"/>
                </a:solidFill>
                <a:latin typeface="Space Grotesk"/>
              </a:rPr>
              <a:t>CONTEXT SAVES</a:t>
            </a:r>
          </a:p>
          <a:p>
            <a:r>
              <a:t>MONEY.</a:t>
            </a:r>
          </a:p>
        </p:txBody>
      </p:sp>
      <p:sp>
        <p:nvSpPr>
          <p:cNvPr id="5" name="TextBox 4"/>
          <p:cNvSpPr txBox="1"/>
          <p:nvPr/>
        </p:nvSpPr>
        <p:spPr>
          <a:xfrm>
            <a:off x="822960" y="5394960"/>
            <a:ext cx="8686800" cy="1280160"/>
          </a:xfrm>
          <a:prstGeom prst="rect">
            <a:avLst/>
          </a:prstGeom>
          <a:noFill/>
        </p:spPr>
        <p:txBody>
          <a:bodyPr wrap="square" lIns="0" rIns="0" tIns="0" bIns="0">
            <a:spAutoFit/>
          </a:bodyPr>
          <a:lstStyle/>
          <a:p>
            <a:pPr algn="l"/>
            <a:r>
              <a:rPr sz="1600" b="0" i="0">
                <a:solidFill>
                  <a:srgbClr val="E5E6E0"/>
                </a:solidFill>
                <a:latin typeface="Outfit"/>
              </a:rPr>
              <a:t>You pay per token, the pieces of text the AI reads and writes. Good context means you say things once instead of every time, which is less work for the model and less money for you.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5E6E0"/>
        </a:solidFill>
        <a:effectLst/>
      </p:bgPr>
    </p:bg>
    <p:spTree>
      <p:nvGrpSpPr>
        <p:cNvPr id="1" name=""/>
        <p:cNvGrpSpPr/>
        <p:nvPr/>
      </p:nvGrpSpPr>
      <p:grpSpPr/>
      <p:sp>
        <p:nvSpPr>
          <p:cNvPr id="2" name="TextBox 1"/>
          <p:cNvSpPr txBox="1"/>
          <p:nvPr/>
        </p:nvSpPr>
        <p:spPr>
          <a:xfrm>
            <a:off x="457200" y="1280160"/>
            <a:ext cx="11277295" cy="914400"/>
          </a:xfrm>
          <a:prstGeom prst="rect">
            <a:avLst/>
          </a:prstGeom>
          <a:noFill/>
        </p:spPr>
        <p:txBody>
          <a:bodyPr wrap="square" lIns="0" rIns="0" tIns="0" bIns="0">
            <a:spAutoFit/>
          </a:bodyPr>
          <a:lstStyle/>
          <a:p>
            <a:pPr algn="ctr"/>
            <a:r>
              <a:rPr sz="4400" b="1" i="0">
                <a:solidFill>
                  <a:srgbClr val="9E3E58"/>
                </a:solidFill>
                <a:latin typeface="Caveat"/>
              </a:rPr>
              <a:t>Your turn.</a:t>
            </a:r>
          </a:p>
        </p:txBody>
      </p:sp>
      <p:sp>
        <p:nvSpPr>
          <p:cNvPr id="3" name="TextBox 2"/>
          <p:cNvSpPr txBox="1"/>
          <p:nvPr/>
        </p:nvSpPr>
        <p:spPr>
          <a:xfrm>
            <a:off x="457200" y="2377440"/>
            <a:ext cx="11277295" cy="1828800"/>
          </a:xfrm>
          <a:prstGeom prst="rect">
            <a:avLst/>
          </a:prstGeom>
          <a:noFill/>
        </p:spPr>
        <p:txBody>
          <a:bodyPr wrap="none" lIns="0" rIns="0" tIns="0" bIns="0">
            <a:spAutoFit/>
          </a:bodyPr>
          <a:lstStyle/>
          <a:p>
            <a:pPr algn="ctr"/>
            <a:r>
              <a:rPr sz="10800" b="1" spc="-200">
                <a:solidFill>
                  <a:srgbClr val="18171F"/>
                </a:solidFill>
                <a:latin typeface="Space Grotesk"/>
              </a:rPr>
              <a:t>LET'S BUILD IT.</a:t>
            </a:r>
            <a:r>
              <a:rPr sz="10800" b="1" spc="-200">
                <a:solidFill>
                  <a:srgbClr val="B30022"/>
                </a:solidFill>
                <a:latin typeface="Space Grotesk"/>
              </a:rPr>
              <a:t/>
            </a:r>
            <a:r>
              <a:rPr sz="10800" b="1" spc="-200">
                <a:solidFill>
                  <a:srgbClr val="18171F"/>
                </a:solidFill>
                <a:latin typeface="Space Grotesk"/>
              </a:rPr>
              <a:t/>
            </a:r>
          </a:p>
        </p:txBody>
      </p:sp>
      <p:sp>
        <p:nvSpPr>
          <p:cNvPr id="4" name="Rectangle 3"/>
          <p:cNvSpPr/>
          <p:nvPr/>
        </p:nvSpPr>
        <p:spPr>
          <a:xfrm>
            <a:off x="4861407" y="4160520"/>
            <a:ext cx="2468880" cy="76200"/>
          </a:xfrm>
          <a:prstGeom prst="rect">
            <a:avLst/>
          </a:prstGeom>
          <a:solidFill>
            <a:srgbClr val="B30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4937760"/>
            <a:ext cx="9418320" cy="1097280"/>
          </a:xfrm>
          <a:prstGeom prst="rect">
            <a:avLst/>
          </a:prstGeom>
          <a:noFill/>
        </p:spPr>
        <p:txBody>
          <a:bodyPr wrap="square" lIns="0" rIns="0" tIns="0" bIns="0">
            <a:spAutoFit/>
          </a:bodyPr>
          <a:lstStyle/>
          <a:p>
            <a:pPr algn="ctr"/>
            <a:r>
              <a:rPr sz="1600" b="0" i="0">
                <a:solidFill>
                  <a:srgbClr val="3D3B47"/>
                </a:solidFill>
                <a:latin typeface="Outfit"/>
              </a:rPr>
              <a:t>Context in, grounded help out. Now we open the workspace and set up yours.</a:t>
            </a:r>
          </a:p>
        </p:txBody>
      </p:sp>
      <p:sp>
        <p:nvSpPr>
          <p:cNvPr id="6" name="TextBox 5"/>
          <p:cNvSpPr txBox="1"/>
          <p:nvPr/>
        </p:nvSpPr>
        <p:spPr>
          <a:xfrm>
            <a:off x="457200" y="6217920"/>
            <a:ext cx="11277295" cy="365760"/>
          </a:xfrm>
          <a:prstGeom prst="rect">
            <a:avLst/>
          </a:prstGeom>
          <a:noFill/>
        </p:spPr>
        <p:txBody>
          <a:bodyPr wrap="square" lIns="0" rIns="0" tIns="0" bIns="0">
            <a:spAutoFit/>
          </a:bodyPr>
          <a:lstStyle/>
          <a:p>
            <a:pPr algn="ctr"/>
            <a:r>
              <a:rPr sz="1100" b="1" i="0" spc="400">
                <a:solidFill>
                  <a:srgbClr val="9E3E58"/>
                </a:solidFill>
                <a:latin typeface="Space Grotesk"/>
              </a:rPr>
              <a:t>ashleyscruse.com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