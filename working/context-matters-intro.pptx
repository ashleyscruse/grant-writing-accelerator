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B9BAB4"/>
                </a:solidFill>
                <a:latin typeface="Space Grotesk"/>
              </a:rPr>
              <a:t>GRANT WRITING ACCELERATOR   |   AI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before we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7600" b="1" i="0" spc="-250">
                <a:solidFill>
                  <a:srgbClr val="E5E6E0"/>
                </a:solidFill>
                <a:latin typeface="Space Grotesk"/>
              </a:rPr>
              <a:t>CONTEXT MATTERS.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160520"/>
            <a:ext cx="2194560" cy="91440"/>
          </a:xfrm>
          <a:prstGeom prst="rect">
            <a:avLst/>
          </a:prstGeom>
          <a:solidFill>
            <a:srgbClr val="B30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B9BAB4"/>
                </a:solidFill>
                <a:latin typeface="Outfit"/>
              </a:rPr>
              <a:t>It is not the AI. It is what it knows about you.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6B6B6B"/>
                </a:solidFill>
                <a:latin typeface="Space Grotesk"/>
              </a:rPr>
              <a:t>THE PAYOFF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why you're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 spc="-150">
                <a:solidFill>
                  <a:srgbClr val="18171F"/>
                </a:solidFill>
                <a:latin typeface="Space Grotesk"/>
              </a:rPr>
              <a:t>WHAT YOU'LL WALK OUT WITH.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2400" b="1" spc="-50">
                <a:solidFill>
                  <a:srgbClr val="B30022"/>
                </a:solidFill>
                <a:latin typeface="Space Grotesk"/>
              </a:rPr>
              <a:t>A workspace that knows you.</a:t>
            </a:r>
            <a:r>
              <a:rPr sz="2400">
                <a:solidFill>
                  <a:srgbClr val="18171F"/>
                </a:solidFill>
                <a:latin typeface="Outfit"/>
              </a:rPr>
              <a:t>  Your CV, your institution, your record.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2400" b="1" spc="-50">
                <a:solidFill>
                  <a:srgbClr val="B30022"/>
                </a:solidFill>
                <a:latin typeface="Space Grotesk"/>
              </a:rPr>
              <a:t>Grant help in your voice.</a:t>
            </a:r>
            <a:r>
              <a:rPr sz="2400">
                <a:solidFill>
                  <a:srgbClr val="18171F"/>
                </a:solidFill>
                <a:latin typeface="Outfit"/>
              </a:rPr>
              <a:t>  Drafted to the review criteria, not generic mush.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2400" b="1" spc="-50">
                <a:solidFill>
                  <a:srgbClr val="B30022"/>
                </a:solidFill>
                <a:latin typeface="Space Grotesk"/>
              </a:rPr>
              <a:t>Reusable on every grant.</a:t>
            </a:r>
            <a:r>
              <a:rPr sz="2400">
                <a:solidFill>
                  <a:srgbClr val="18171F"/>
                </a:solidFill>
                <a:latin typeface="Outfit"/>
              </a:rPr>
              <a:t>  Set it up once, use it for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6B6B6B"/>
                </a:solidFill>
                <a:latin typeface="Space Grotesk"/>
              </a:rPr>
              <a:t>SOUND FAMILIAR?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you've done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 spc="-150">
                <a:solidFill>
                  <a:srgbClr val="18171F"/>
                </a:solidFill>
                <a:latin typeface="Space Grotesk"/>
              </a:rPr>
              <a:t>PASTE YOUR BIO,</a:t>
            </a:r>
          </a:p>
          <a:p>
            <a:pPr algn="l">
              <a:lnSpc>
                <a:spcPct val="102000"/>
              </a:lnSpc>
            </a:pPr>
            <a:r>
              <a:rPr sz="4400" b="1" i="0" spc="-150">
                <a:solidFill>
                  <a:srgbClr val="18171F"/>
                </a:solidFill>
                <a:latin typeface="Space Grotesk"/>
              </a:rPr>
              <a:t>GET GENERIC MUSH.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18171F"/>
                </a:solidFill>
                <a:latin typeface="Outfit"/>
              </a:rPr>
              <a:t>You drop your bio into a chat box and get back something that sounds nothing like you. That is not the AI's fault. It just does not know who you 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6B6B6B"/>
                </a:solidFill>
                <a:latin typeface="Space Grotesk"/>
              </a:rPr>
              <a:t>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here's the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 spc="-150">
                <a:solidFill>
                  <a:srgbClr val="18171F"/>
                </a:solidFill>
                <a:latin typeface="Space Grotesk"/>
              </a:rPr>
              <a:t>LET IT READ YOUR FILES.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53328" y="2651760"/>
            <a:ext cx="32004" cy="2834640"/>
          </a:xfrm>
          <a:prstGeom prst="rect">
            <a:avLst/>
          </a:prstGeom>
          <a:solidFill>
            <a:srgbClr val="9E3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spc="-50">
                <a:solidFill>
                  <a:srgbClr val="B30022"/>
                </a:solidFill>
                <a:latin typeface="Space Grotesk"/>
              </a:rPr>
              <a:t>PASTE AND COPY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0" i="0">
                <a:solidFill>
                  <a:srgbClr val="18171F"/>
                </a:solidFill>
                <a:latin typeface="Outfit"/>
              </a:rPr>
              <a:t>You paste text into a chat. It only ever sees what you paste.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6517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spc="-50">
                <a:solidFill>
                  <a:srgbClr val="B30022"/>
                </a:solidFill>
                <a:latin typeface="Space Grotesk"/>
              </a:rPr>
              <a:t>FILE-AWARE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4290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0" i="0">
                <a:solidFill>
                  <a:srgbClr val="18171F"/>
                </a:solidFill>
                <a:latin typeface="Outfit"/>
              </a:rPr>
              <a:t>It opens your folder, reads your real files, and knows you, without re-typing a 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6B6B6B"/>
                </a:solidFill>
                <a:latin typeface="Space Grotesk"/>
              </a:rPr>
              <a:t>THE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three quick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 spc="-150">
                <a:solidFill>
                  <a:srgbClr val="18171F"/>
                </a:solidFill>
                <a:latin typeface="Space Grotesk"/>
              </a:rPr>
              <a:t>THE WORDS.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3210458" cy="32004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B30022"/>
                </a:solidFill>
                <a:latin typeface="Space Grotesk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3383280"/>
            <a:ext cx="2377440" cy="384048"/>
          </a:xfrm>
          <a:prstGeom prst="rect">
            <a:avLst/>
          </a:prstGeom>
          <a:solidFill>
            <a:srgbClr val="9E3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419856"/>
            <a:ext cx="26618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 spc="100">
                <a:solidFill>
                  <a:srgbClr val="FAFAF8"/>
                </a:solidFill>
                <a:latin typeface="Space Grotesk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77639"/>
            <a:ext cx="275325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6B6B"/>
                </a:solidFill>
                <a:latin typeface="Outfit"/>
              </a:rPr>
              <a:t>What it sees right now: your CV and the solicitation.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0618" y="2514600"/>
            <a:ext cx="3210458" cy="32004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665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B30022"/>
                </a:solidFill>
                <a:latin typeface="Space Grotesk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6650" y="3383280"/>
            <a:ext cx="2377440" cy="384048"/>
          </a:xfrm>
          <a:prstGeom prst="rect">
            <a:avLst/>
          </a:prstGeom>
          <a:solidFill>
            <a:srgbClr val="9E3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6378" y="3419856"/>
            <a:ext cx="26618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 spc="100">
                <a:solidFill>
                  <a:srgbClr val="FAFAF8"/>
                </a:solidFill>
                <a:latin typeface="Space Grotesk"/>
              </a:rP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6650" y="3977639"/>
            <a:ext cx="275325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6B6B"/>
                </a:solidFill>
                <a:latin typeface="Outfit"/>
              </a:rPr>
              <a:t>Your files, so you never re-explain yourself.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8276" y="2514600"/>
            <a:ext cx="3210458" cy="32004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4308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B30022"/>
                </a:solidFill>
                <a:latin typeface="Space Grotesk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4308" y="3383280"/>
            <a:ext cx="2377440" cy="384048"/>
          </a:xfrm>
          <a:prstGeom prst="rect">
            <a:avLst/>
          </a:prstGeom>
          <a:solidFill>
            <a:srgbClr val="9E3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4036" y="3419856"/>
            <a:ext cx="26618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 spc="100">
                <a:solidFill>
                  <a:srgbClr val="FAFAF8"/>
                </a:solidFill>
                <a:latin typeface="Space Grotesk"/>
              </a:rPr>
              <a:t>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4308" y="3977639"/>
            <a:ext cx="275325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6B6B"/>
                </a:solidFill>
                <a:latin typeface="Outfit"/>
              </a:rPr>
              <a:t>How you ask: “draft my Broader Impacts.”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B9BAB4"/>
                </a:solidFill>
                <a:latin typeface="Space Grotesk"/>
              </a:rPr>
              <a:t>HANDS ON THE KEYBOARD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your 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 b="1" i="0" spc="-250">
                <a:solidFill>
                  <a:srgbClr val="E5E6E0"/>
                </a:solidFill>
                <a:latin typeface="Space Grotesk"/>
              </a:rPr>
              <a:t>LET'S OPEN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977639"/>
            <a:ext cx="2194560" cy="91440"/>
          </a:xfrm>
          <a:prstGeom prst="rect">
            <a:avLst/>
          </a:prstGeom>
          <a:solidFill>
            <a:srgbClr val="B30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9BAB4"/>
                </a:solidFill>
                <a:latin typeface="Outfit"/>
              </a:rPr>
              <a:t>Watch it read my CV and know me. Then you'll do it with yours.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