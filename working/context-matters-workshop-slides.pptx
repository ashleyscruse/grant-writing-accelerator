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250">
                <a:solidFill>
                  <a:srgbClr val="B9BAB4"/>
                </a:solidFill>
                <a:latin typeface="Space Grotesk"/>
              </a:rPr>
              <a:t>GRANT WRITING ACCELERATOR   |   AI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9E3E58"/>
                </a:solidFill>
                <a:latin typeface="Caveat"/>
              </a:rPr>
              <a:t>the one thing that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7600" b="1" i="0" spc="-250">
                <a:solidFill>
                  <a:srgbClr val="E5E6E0"/>
                </a:solidFill>
                <a:latin typeface="Space Grotesk"/>
              </a:rPr>
              <a:t>CONTEXT MATTERS.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160520"/>
            <a:ext cx="2194560" cy="91440"/>
          </a:xfrm>
          <a:prstGeom prst="rect">
            <a:avLst/>
          </a:prstGeom>
          <a:solidFill>
            <a:srgbClr val="B30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B9BAB4"/>
                </a:solidFill>
                <a:latin typeface="Outfit"/>
              </a:rPr>
              <a:t>It is not the AI. It is what the AI knows about you.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250">
                <a:solidFill>
                  <a:srgbClr val="6B6B6B"/>
                </a:solidFill>
                <a:latin typeface="Space Grotesk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9E3E58"/>
                </a:solidFill>
                <a:latin typeface="Caveat"/>
              </a:rPr>
              <a:t>here's the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 spc="-150">
                <a:solidFill>
                  <a:srgbClr val="18171F"/>
                </a:solidFill>
                <a:latin typeface="Space Grotesk"/>
              </a:rPr>
              <a:t>MOST SETUPS DON'T</a:t>
            </a:r>
          </a:p>
          <a:p>
            <a:pPr algn="l">
              <a:lnSpc>
                <a:spcPct val="102000"/>
              </a:lnSpc>
            </a:pPr>
            <a:r>
              <a:rPr sz="4400" b="1" i="0" spc="-150">
                <a:solidFill>
                  <a:srgbClr val="18171F"/>
                </a:solidFill>
                <a:latin typeface="Space Grotesk"/>
              </a:rPr>
              <a:t>KEEP UP WITH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9692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18171F"/>
                </a:solidFill>
                <a:latin typeface="Outfit"/>
              </a:rPr>
              <a:t>The web can hold some context: projects, uploaded PDFs. But it is a snapshot you keep up by hand, and it goes stale. A file-aware setup reads your real, current files every single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250">
                <a:solidFill>
                  <a:srgbClr val="6B6B6B"/>
                </a:solidFill>
                <a:latin typeface="Space Grotesk"/>
              </a:rPr>
              <a:t>SAME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9E3E58"/>
                </a:solidFill>
                <a:latin typeface="Caveat"/>
              </a:rPr>
              <a:t>learn three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 spc="-150">
                <a:solidFill>
                  <a:srgbClr val="18171F"/>
                </a:solidFill>
                <a:latin typeface="Space Grotesk"/>
              </a:rPr>
              <a:t>THE WORDS.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3210458" cy="32004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B30022"/>
                </a:solidFill>
                <a:latin typeface="Space Grotesk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3383280"/>
            <a:ext cx="2377440" cy="384048"/>
          </a:xfrm>
          <a:prstGeom prst="rect">
            <a:avLst/>
          </a:prstGeom>
          <a:solidFill>
            <a:srgbClr val="9E3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419856"/>
            <a:ext cx="26618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 spc="100">
                <a:solidFill>
                  <a:srgbClr val="FAFAF8"/>
                </a:solidFill>
                <a:latin typeface="Space Grotesk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77639"/>
            <a:ext cx="275325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6B6B6B"/>
                </a:solidFill>
                <a:latin typeface="Outfit"/>
              </a:rPr>
              <a:t>What the AI can see right now: your prompt, your files, the chat so far.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0618" y="2514600"/>
            <a:ext cx="3210458" cy="32004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6650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B30022"/>
                </a:solidFill>
                <a:latin typeface="Space Grotesk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6650" y="3383280"/>
            <a:ext cx="2377440" cy="384048"/>
          </a:xfrm>
          <a:prstGeom prst="rect">
            <a:avLst/>
          </a:prstGeom>
          <a:solidFill>
            <a:srgbClr val="9E3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6378" y="3419856"/>
            <a:ext cx="26618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 spc="100">
                <a:solidFill>
                  <a:srgbClr val="FAFAF8"/>
                </a:solidFill>
                <a:latin typeface="Space Grotesk"/>
              </a:rPr>
              <a:t>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6650" y="3977639"/>
            <a:ext cx="275325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6B6B6B"/>
                </a:solidFill>
                <a:latin typeface="Outfit"/>
              </a:rPr>
              <a:t>It forgets between sessions. Your files are what give it memory.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8276" y="2514600"/>
            <a:ext cx="3210458" cy="32004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4308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B30022"/>
                </a:solidFill>
                <a:latin typeface="Space Grotesk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4308" y="3383280"/>
            <a:ext cx="2377440" cy="384048"/>
          </a:xfrm>
          <a:prstGeom prst="rect">
            <a:avLst/>
          </a:prstGeom>
          <a:solidFill>
            <a:srgbClr val="9E3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4036" y="3419856"/>
            <a:ext cx="26618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 spc="100">
                <a:solidFill>
                  <a:srgbClr val="FAFAF8"/>
                </a:solidFill>
                <a:latin typeface="Space Grotesk"/>
              </a:rPr>
              <a:t>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4308" y="3977639"/>
            <a:ext cx="275325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6B6B6B"/>
                </a:solidFill>
                <a:latin typeface="Outfit"/>
              </a:rPr>
              <a:t>How you ask. Clear, specific requests get better answers.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250">
                <a:solidFill>
                  <a:srgbClr val="6B6B6B"/>
                </a:solidFill>
                <a:latin typeface="Space Grotesk"/>
              </a:rPr>
              <a:t>HOW MEMORY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9E3E58"/>
                </a:solidFill>
                <a:latin typeface="Caveat"/>
              </a:rPr>
              <a:t>where things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 spc="-150">
                <a:solidFill>
                  <a:srgbClr val="18171F"/>
                </a:solidFill>
                <a:latin typeface="Space Grotesk"/>
              </a:rPr>
              <a:t>WHITEBOARD vs NOTEBOOK.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53328" y="2651760"/>
            <a:ext cx="32004" cy="2834640"/>
          </a:xfrm>
          <a:prstGeom prst="rect">
            <a:avLst/>
          </a:prstGeom>
          <a:solidFill>
            <a:srgbClr val="9E3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 spc="-50">
                <a:solidFill>
                  <a:srgbClr val="B30022"/>
                </a:solidFill>
                <a:latin typeface="Space Grotesk"/>
              </a:rPr>
              <a:t>THE WHITEBOARD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0" i="0">
                <a:solidFill>
                  <a:srgbClr val="18171F"/>
                </a:solidFill>
                <a:latin typeface="Outfit"/>
              </a:rPr>
              <a:t>The session you are in. Temporary. Wiped clean when you close the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6517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 spc="-50">
                <a:solidFill>
                  <a:srgbClr val="B30022"/>
                </a:solidFill>
                <a:latin typeface="Space Grotesk"/>
              </a:rPr>
              <a:t>THE NOTEBOOK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42900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0" i="0">
                <a:solidFill>
                  <a:srgbClr val="18171F"/>
                </a:solidFill>
                <a:latin typeface="Outfit"/>
              </a:rPr>
              <a:t>Your files and CLAUDE.md. Permanent on disk. Reloaded onto the whiteboard every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250">
                <a:solidFill>
                  <a:srgbClr val="6B6B6B"/>
                </a:solidFill>
                <a:latin typeface="Space Grotesk"/>
              </a:rPr>
              <a:t>THE WHOLE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9E3E58"/>
                </a:solidFill>
                <a:latin typeface="Caveat"/>
              </a:rPr>
              <a:t>this is the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 spc="-150">
                <a:solidFill>
                  <a:srgbClr val="18171F"/>
                </a:solidFill>
                <a:latin typeface="Space Grotesk"/>
              </a:rPr>
              <a:t>WHAT FILE-AWARE AI MEANS.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53328" y="2651760"/>
            <a:ext cx="32004" cy="2834640"/>
          </a:xfrm>
          <a:prstGeom prst="rect">
            <a:avLst/>
          </a:prstGeom>
          <a:solidFill>
            <a:srgbClr val="9E3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 spc="-50">
                <a:solidFill>
                  <a:srgbClr val="B30022"/>
                </a:solidFill>
                <a:latin typeface="Space Grotesk"/>
              </a:rPr>
              <a:t>PASTE AND COPY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0" i="0">
                <a:solidFill>
                  <a:srgbClr val="18171F"/>
                </a:solidFill>
                <a:latin typeface="Outfit"/>
              </a:rPr>
              <a:t>You paste text into a chat and copy the answer back. It only ever sees what you paste.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6517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 spc="-50">
                <a:solidFill>
                  <a:srgbClr val="B30022"/>
                </a:solidFill>
                <a:latin typeface="Space Grotesk"/>
              </a:rPr>
              <a:t>FILE-AWARE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42900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0" i="0">
                <a:solidFill>
                  <a:srgbClr val="18171F"/>
                </a:solidFill>
                <a:latin typeface="Outfit"/>
              </a:rPr>
              <a:t>It opens your folder and reads and writes your real files, in place. It sees your whole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250">
                <a:solidFill>
                  <a:srgbClr val="6B6B6B"/>
                </a:solidFill>
                <a:latin typeface="Space Grotesk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9E3E58"/>
                </a:solidFill>
                <a:latin typeface="Caveat"/>
              </a:rPr>
              <a:t>the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 spc="-150">
                <a:solidFill>
                  <a:srgbClr val="18171F"/>
                </a:solidFill>
                <a:latin typeface="Space Grotesk"/>
              </a:rPr>
              <a:t>HOW THAT SPEEDS YOU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2400" b="1" spc="-50">
                <a:solidFill>
                  <a:srgbClr val="B30022"/>
                </a:solidFill>
                <a:latin typeface="Space Grotesk"/>
              </a:rPr>
              <a:t>No re-explaining.</a:t>
            </a:r>
            <a:r>
              <a:rPr sz="2400">
                <a:solidFill>
                  <a:srgbClr val="18171F"/>
                </a:solidFill>
                <a:latin typeface="Outfit"/>
              </a:rPr>
              <a:t>  It already knows you, from your files.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2400" b="1" spc="-50">
                <a:solidFill>
                  <a:srgbClr val="B30022"/>
                </a:solidFill>
                <a:latin typeface="Space Grotesk"/>
              </a:rPr>
              <a:t>Drafts in place.</a:t>
            </a:r>
            <a:r>
              <a:rPr sz="2400">
                <a:solidFill>
                  <a:srgbClr val="18171F"/>
                </a:solidFill>
                <a:latin typeface="Outfit"/>
              </a:rPr>
              <a:t>  It writes into your documents, not a chat you copy from.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2400" b="1" spc="-50">
                <a:solidFill>
                  <a:srgbClr val="B30022"/>
                </a:solidFill>
                <a:latin typeface="Space Grotesk"/>
              </a:rPr>
              <a:t>Stays organized.</a:t>
            </a:r>
            <a:r>
              <a:rPr sz="2400">
                <a:solidFill>
                  <a:srgbClr val="18171F"/>
                </a:solidFill>
                <a:latin typeface="Outfit"/>
              </a:rPr>
              <a:t>  Your work lives in folders, not scattered tabs.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250">
                <a:solidFill>
                  <a:srgbClr val="6B6B6B"/>
                </a:solidFill>
                <a:latin typeface="Space Grotesk"/>
              </a:rPr>
              <a:t>THE FILE-AWARE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9E3E58"/>
                </a:solidFill>
                <a:latin typeface="Caveat"/>
              </a:rPr>
              <a:t>what you'll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 spc="-150">
                <a:solidFill>
                  <a:srgbClr val="18171F"/>
                </a:solidFill>
                <a:latin typeface="Space Grotesk"/>
              </a:rPr>
              <a:t>MEET CLAUDE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2400" b="1" spc="-50">
                <a:solidFill>
                  <a:srgbClr val="B30022"/>
                </a:solidFill>
                <a:latin typeface="Space Grotesk"/>
              </a:rPr>
              <a:t>It opens your folder.</a:t>
            </a:r>
            <a:r>
              <a:rPr sz="2400">
                <a:solidFill>
                  <a:srgbClr val="18171F"/>
                </a:solidFill>
                <a:latin typeface="Outfit"/>
              </a:rPr>
              <a:t>  Reads and writes your files, in plain English.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2400" b="1" spc="-50">
                <a:solidFill>
                  <a:srgbClr val="B30022"/>
                </a:solidFill>
                <a:latin typeface="Space Grotesk"/>
              </a:rPr>
              <a:t>You never touch code.</a:t>
            </a:r>
            <a:r>
              <a:rPr sz="2400">
                <a:solidFill>
                  <a:srgbClr val="18171F"/>
                </a:solidFill>
                <a:latin typeface="Outfit"/>
              </a:rPr>
              <a:t>  You ask; it does the work.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2400" b="1" spc="-50">
                <a:solidFill>
                  <a:srgbClr val="B30022"/>
                </a:solidFill>
                <a:latin typeface="Space Grotesk"/>
              </a:rPr>
              <a:t>It even writes the LaTeX.</a:t>
            </a:r>
            <a:r>
              <a:rPr sz="2400">
                <a:solidFill>
                  <a:srgbClr val="18171F"/>
                </a:solidFill>
                <a:latin typeface="Outfit"/>
              </a:rPr>
              <a:t>  The formatting that keeps NSF pages compliant.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6B6B6B"/>
                </a:solidFill>
                <a:latin typeface="Outfit"/>
              </a:rPr>
              <a:t>You'll use the desktop app. No coding editor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250">
                <a:solidFill>
                  <a:srgbClr val="6B6B6B"/>
                </a:solidFill>
                <a:latin typeface="Space Grotesk"/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9E3E58"/>
                </a:solidFill>
                <a:latin typeface="Caveat"/>
              </a:rPr>
              <a:t>what you'll sign up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 spc="-150">
                <a:solidFill>
                  <a:srgbClr val="18171F"/>
                </a:solidFill>
                <a:latin typeface="Space Grotesk"/>
              </a:rPr>
              <a:t>ABOUT CLAUDE PRO.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6766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18171F"/>
                </a:solidFill>
                <a:latin typeface="Outfit"/>
              </a:rPr>
              <a:t>$20 per month. Includes Claude Code.</a:t>
            </a:r>
          </a:p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18171F"/>
                </a:solidFill>
                <a:latin typeface="Outfit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18171F"/>
                </a:solidFill>
                <a:latin typeface="Outfit"/>
              </a:rPr>
              <a:t>Usage resets on a rolling 5-hour window, plus a weekly cap.</a:t>
            </a:r>
          </a:p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18171F"/>
                </a:solidFill>
                <a:latin typeface="Outfit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18171F"/>
                </a:solidFill>
                <a:latin typeface="Outfit"/>
              </a:rPr>
              <a:t>Good context stretches it: it reads your files instead of you re-typing.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6517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0" b="1" i="0" spc="-200">
                <a:solidFill>
                  <a:srgbClr val="B30022"/>
                </a:solidFill>
                <a:latin typeface="Space Grotesk"/>
              </a:rPr>
              <a:t>$20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206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9E3E58"/>
                </a:solidFill>
                <a:latin typeface="Space Grotesk"/>
              </a:rPr>
              <a:t>/ month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250">
                <a:solidFill>
                  <a:srgbClr val="6B6B6B"/>
                </a:solidFill>
                <a:latin typeface="Space Grotesk"/>
              </a:rPr>
              <a:t>YOUR TURN SOON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9E3E58"/>
                </a:solidFill>
                <a:latin typeface="Caveat"/>
              </a:rPr>
              <a:t>what you're getting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 spc="-150">
                <a:solidFill>
                  <a:srgbClr val="18171F"/>
                </a:solidFill>
                <a:latin typeface="Space Grotesk"/>
              </a:rPr>
              <a:t>WHAT'S IN THE WORKSPACE.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3210458" cy="32004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B30022"/>
                </a:solidFill>
                <a:latin typeface="Space Grotesk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3200400"/>
            <a:ext cx="2377440" cy="384048"/>
          </a:xfrm>
          <a:prstGeom prst="rect">
            <a:avLst/>
          </a:prstGeom>
          <a:solidFill>
            <a:srgbClr val="9E3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236976"/>
            <a:ext cx="26618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 spc="100">
                <a:solidFill>
                  <a:srgbClr val="FAFAF8"/>
                </a:solidFill>
                <a:latin typeface="Space Grotesk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794760"/>
            <a:ext cx="275325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6B6B6B"/>
                </a:solidFill>
                <a:latin typeface="Outfit"/>
              </a:rPr>
              <a:t>Who you are, built from your CV. Reused on every grant.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0618" y="2331720"/>
            <a:ext cx="3210458" cy="32004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665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B30022"/>
                </a:solidFill>
                <a:latin typeface="Space Grotesk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6650" y="3200400"/>
            <a:ext cx="2377440" cy="384048"/>
          </a:xfrm>
          <a:prstGeom prst="rect">
            <a:avLst/>
          </a:prstGeom>
          <a:solidFill>
            <a:srgbClr val="9E3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6378" y="3236976"/>
            <a:ext cx="26618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 spc="100">
                <a:solidFill>
                  <a:srgbClr val="FAFAF8"/>
                </a:solidFill>
                <a:latin typeface="Space Grotesk"/>
              </a:rPr>
              <a:t>GRANTS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6650" y="3794760"/>
            <a:ext cx="275325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6B6B6B"/>
                </a:solidFill>
                <a:latin typeface="Outfit"/>
              </a:rPr>
              <a:t>A folder per grant: solicitation, evaluation, budget, draft.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8276" y="2331720"/>
            <a:ext cx="3210458" cy="32004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4308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B30022"/>
                </a:solidFill>
                <a:latin typeface="Space Grotesk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4308" y="3200400"/>
            <a:ext cx="2377440" cy="384048"/>
          </a:xfrm>
          <a:prstGeom prst="rect">
            <a:avLst/>
          </a:prstGeom>
          <a:solidFill>
            <a:srgbClr val="9E3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4036" y="3236976"/>
            <a:ext cx="26618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 spc="100">
                <a:solidFill>
                  <a:srgbClr val="FAFAF8"/>
                </a:solidFill>
                <a:latin typeface="Space Grotesk"/>
              </a:rPr>
              <a:t>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4308" y="3794760"/>
            <a:ext cx="275325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6B6B6B"/>
                </a:solidFill>
                <a:latin typeface="Outfit"/>
              </a:rPr>
              <a:t>Sage, advisor, writer, reviewers. They draft and critique for you.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6B6B6B"/>
                </a:solidFill>
                <a:latin typeface="Outfit"/>
              </a:rPr>
              <a:t>A tracker keeps your whole pipeline in 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250">
                <a:solidFill>
                  <a:srgbClr val="B9BAB4"/>
                </a:solidFill>
                <a:latin typeface="Space Grotesk"/>
              </a:rPr>
              <a:t>THE LINE I WON'T CROSS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9E3E58"/>
                </a:solidFill>
                <a:latin typeface="Caveat"/>
              </a:rPr>
              <a:t>some things aren't automated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 spc="-100">
                <a:solidFill>
                  <a:srgbClr val="E5E6E0"/>
                </a:solidFill>
                <a:latin typeface="Space Grotesk"/>
              </a:rPr>
              <a:t>The budget stays human.</a:t>
            </a:r>
          </a:p>
          <a:p>
            <a:pPr algn="l">
              <a:lnSpc>
                <a:spcPct val="110000"/>
              </a:lnSpc>
            </a:pPr>
            <a:r>
              <a:rPr sz="4000" b="1" i="0" spc="-100">
                <a:solidFill>
                  <a:srgbClr val="E5E6E0"/>
                </a:solidFill>
                <a:latin typeface="Space Grotesk"/>
              </a:rPr>
              <a:t>You and your team own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B9BAB4"/>
                </a:solidFill>
                <a:latin typeface="Outfit"/>
              </a:rPr>
              <a:t>That is why there is no budget skill. I never build a workflow that removes the person.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 spc="250">
                <a:solidFill>
                  <a:srgbClr val="B9BAB4"/>
                </a:solidFill>
                <a:latin typeface="Space Grotesk"/>
              </a:rPr>
              <a:t>HANDS ON THE KEYBOARD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9E3E58"/>
                </a:solidFill>
                <a:latin typeface="Caveat"/>
              </a:rPr>
              <a:t>your 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7200" b="1" i="0" spc="-250">
                <a:solidFill>
                  <a:srgbClr val="E5E6E0"/>
                </a:solidFill>
                <a:latin typeface="Space Grotesk"/>
              </a:rPr>
              <a:t>LET'S OPEN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977639"/>
            <a:ext cx="2194560" cy="91440"/>
          </a:xfrm>
          <a:prstGeom prst="rect">
            <a:avLst/>
          </a:prstGeom>
          <a:solidFill>
            <a:srgbClr val="B30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9BAB4"/>
                </a:solidFill>
                <a:latin typeface="Outfit"/>
              </a:rPr>
              <a:t>Download the desktop app and the zip. Unzip it. Open the folder in Claude Code. Say hi.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